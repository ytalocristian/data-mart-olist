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90" r:id="rId23"/>
    <p:sldId id="291" r:id="rId24"/>
    <p:sldId id="292" r:id="rId25"/>
    <p:sldId id="277" r:id="rId26"/>
    <p:sldId id="278" r:id="rId27"/>
    <p:sldId id="279" r:id="rId28"/>
    <p:sldId id="280" r:id="rId29"/>
    <p:sldId id="281" r:id="rId30"/>
    <p:sldId id="282" r:id="rId31"/>
    <p:sldId id="283" r:id="rId32"/>
    <p:sldId id="284" r:id="rId33"/>
    <p:sldId id="285" r:id="rId34"/>
    <p:sldId id="293" r:id="rId35"/>
    <p:sldId id="286" r:id="rId36"/>
    <p:sldId id="287" r:id="rId37"/>
    <p:sldId id="288" r:id="rId38"/>
    <p:sldId id="289" r:id="rId3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9" d="100"/>
          <a:sy n="139" d="100"/>
        </p:scale>
        <p:origin x="726"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91af41aa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91af41aa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93a86bc37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93a86bc37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91af41aa6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91af41aa6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91af41aa62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91af41aa6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91af41aa6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91af41aa6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91af41aa62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91af41aa62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93a86bc37c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93a86bc37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9413559e3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413559e3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3a86bc37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93a86bc37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91af41aa6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91af41aa6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93a86bc37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93a86bc37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93a86bc3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93a86bc3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91af41aa62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91af41aa6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91af41aa62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91af41aa62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9673c12d7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9673c12d7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9673c12d7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9673c12d7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9673c12d7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9673c12d7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9673c12d75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9673c12d75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9673c12d7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9673c12d7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9d9584ba2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9d9584ba2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9d9584ba26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9d9584ba26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9d9584ba2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9d9584ba2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9d9584ba2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9d9584ba2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9d9584ba2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9d9584ba2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9d9584ba2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9d9584ba2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9d9584ba26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9d9584ba2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9d9584ba2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9d9584ba2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9d9584ba26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9d9584ba26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9d1ad0ecf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9d1ad0ecf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9d1ad0ecf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9d1ad0ecf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9d1ad0ecf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9d1ad0ecf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21774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9d1ad0ec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9d1ad0ec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91af41aa62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91af41aa62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93a86bc37c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93a86bc37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93a86bc37c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93a86bc3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microsoft.com/pt-br/download/details.aspx?id=58494"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www.kaggle.com/datasets/olistbr/brazilian-ecommerce"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www.kaggle.com/datasets/olistbr/brazilian-ecommerce"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591266"/>
            <a:ext cx="8520600" cy="2035055"/>
          </a:xfrm>
          <a:prstGeom prst="rect">
            <a:avLst/>
          </a:prstGeom>
        </p:spPr>
        <p:txBody>
          <a:bodyPr spcFirstLastPara="1" wrap="square" lIns="91425" tIns="91425" rIns="91425" bIns="91425" anchor="b" anchorCtr="0">
            <a:noAutofit/>
          </a:bodyPr>
          <a:lstStyle/>
          <a:p>
            <a:r>
              <a:rPr lang="pt-BR" sz="3500" b="1" dirty="0" err="1" smtClean="0"/>
              <a:t>Brazilian</a:t>
            </a:r>
            <a:r>
              <a:rPr lang="pt-BR" sz="3500" b="1" dirty="0" smtClean="0"/>
              <a:t> </a:t>
            </a:r>
            <a:r>
              <a:rPr lang="pt-BR" sz="3500" b="1" dirty="0"/>
              <a:t>E-Commerce </a:t>
            </a:r>
            <a:r>
              <a:rPr lang="pt-BR" sz="3500" b="1" dirty="0" err="1"/>
              <a:t>Public</a:t>
            </a:r>
            <a:r>
              <a:rPr lang="pt-BR" sz="3500" b="1" dirty="0"/>
              <a:t> </a:t>
            </a:r>
            <a:r>
              <a:rPr lang="pt-BR" sz="3500" b="1" dirty="0" err="1"/>
              <a:t>Dataset</a:t>
            </a:r>
            <a:r>
              <a:rPr lang="pt-BR" b="1" dirty="0"/>
              <a:t/>
            </a:r>
            <a:br>
              <a:rPr lang="pt-BR" b="1" dirty="0"/>
            </a:br>
            <a:endParaRPr dirty="0"/>
          </a:p>
        </p:txBody>
      </p:sp>
      <p:sp>
        <p:nvSpPr>
          <p:cNvPr id="55" name="Google Shape;55;p13"/>
          <p:cNvSpPr txBox="1">
            <a:spLocks noGrp="1"/>
          </p:cNvSpPr>
          <p:nvPr>
            <p:ph type="subTitle" idx="1"/>
          </p:nvPr>
        </p:nvSpPr>
        <p:spPr>
          <a:xfrm>
            <a:off x="464100" y="208287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pt-BR" dirty="0" smtClean="0"/>
              <a:t>Ytalo Cristian</a:t>
            </a:r>
            <a:r>
              <a:rPr lang="pt-BR" dirty="0"/>
              <a:t> </a:t>
            </a:r>
            <a:r>
              <a:rPr lang="pt-BR" dirty="0" smtClean="0"/>
              <a:t>– ytalo.cristian@ufrpe.br</a:t>
            </a:r>
            <a:endParaRPr dirty="0"/>
          </a:p>
        </p:txBody>
      </p:sp>
      <p:sp>
        <p:nvSpPr>
          <p:cNvPr id="56" name="Google Shape;56;p13"/>
          <p:cNvSpPr txBox="1">
            <a:spLocks noGrp="1"/>
          </p:cNvSpPr>
          <p:nvPr>
            <p:ph type="subTitle" idx="1"/>
          </p:nvPr>
        </p:nvSpPr>
        <p:spPr>
          <a:xfrm>
            <a:off x="464100" y="3066334"/>
            <a:ext cx="8520600" cy="2077191"/>
          </a:xfrm>
          <a:prstGeom prst="rect">
            <a:avLst/>
          </a:prstGeom>
        </p:spPr>
        <p:txBody>
          <a:bodyPr spcFirstLastPara="1" wrap="square" lIns="91425" tIns="91425" rIns="91425" bIns="91425" anchor="t" anchorCtr="0">
            <a:noAutofit/>
          </a:bodyPr>
          <a:lstStyle/>
          <a:p>
            <a:pPr marL="0" lvl="0" indent="0"/>
            <a:endParaRPr lang="pt-BR" sz="2000" dirty="0" smtClean="0"/>
          </a:p>
          <a:p>
            <a:pPr marL="0" lvl="0" indent="0"/>
            <a:r>
              <a:rPr lang="pt-BR" sz="1800" dirty="0" smtClean="0"/>
              <a:t>Fonte </a:t>
            </a:r>
            <a:r>
              <a:rPr lang="pt-BR" sz="1800" dirty="0"/>
              <a:t>dos Dados: </a:t>
            </a:r>
            <a:r>
              <a:rPr lang="pt-BR" sz="1800" dirty="0" smtClean="0"/>
              <a:t>https</a:t>
            </a:r>
            <a:r>
              <a:rPr lang="pt-BR" sz="1800" dirty="0"/>
              <a:t>://</a:t>
            </a:r>
            <a:r>
              <a:rPr lang="pt-BR" sz="1800" dirty="0" smtClean="0"/>
              <a:t>www.kaggle.com/datasets/olistbr/brazilian-ecommerce</a:t>
            </a:r>
            <a:endParaRPr sz="1800" dirty="0"/>
          </a:p>
          <a:p>
            <a:pPr marL="0" lvl="0" indent="0"/>
            <a:r>
              <a:rPr lang="pt-BR" sz="1800" dirty="0"/>
              <a:t>Aplicação OLAP: </a:t>
            </a:r>
            <a:r>
              <a:rPr lang="pt-BR" sz="1800" dirty="0">
                <a:hlinkClick r:id="rId3"/>
              </a:rPr>
              <a:t>https://</a:t>
            </a:r>
            <a:r>
              <a:rPr lang="pt-BR" sz="1800" dirty="0" smtClean="0">
                <a:hlinkClick r:id="rId3"/>
              </a:rPr>
              <a:t>www.microsoft.com/pt-br/download/details.aspx?id=58494</a:t>
            </a:r>
            <a:endParaRPr lang="pt-BR" sz="18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pt-BR"/>
              <a:t>ETAPA 1 - PLANEJAMENTO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a:pPr>
            <a:r>
              <a:rPr lang="pt-BR"/>
              <a:t>Contextualização</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114300" indent="0">
              <a:buNone/>
            </a:pPr>
            <a:r>
              <a:rPr lang="pt-BR" b="1" dirty="0"/>
              <a:t>Descrição da área de negócio:</a:t>
            </a:r>
            <a:endParaRPr lang="pt-BR" dirty="0"/>
          </a:p>
          <a:p>
            <a:r>
              <a:rPr lang="pt-BR" dirty="0"/>
              <a:t>Varejo online (E-commerce). O projeto foca na análise transacional de vendas realizadas no </a:t>
            </a:r>
            <a:r>
              <a:rPr lang="pt-BR" dirty="0" err="1"/>
              <a:t>marketplace</a:t>
            </a:r>
            <a:r>
              <a:rPr lang="pt-BR" dirty="0"/>
              <a:t> da </a:t>
            </a:r>
            <a:r>
              <a:rPr lang="pt-BR" dirty="0" err="1"/>
              <a:t>Olist</a:t>
            </a:r>
            <a:r>
              <a:rPr lang="pt-BR" dirty="0"/>
              <a:t>, englobando o ciclo de pedido, produto e cliente.</a:t>
            </a:r>
          </a:p>
          <a:p>
            <a:pPr marL="0" lvl="0" indent="0" algn="l" rtl="0">
              <a:spcBef>
                <a:spcPts val="1600"/>
              </a:spcBef>
              <a:spcAft>
                <a:spcPts val="16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2"/>
            </a:pPr>
            <a:r>
              <a:rPr lang="pt-BR"/>
              <a:t>Escopo/objetivo do Data Mart</a:t>
            </a:r>
            <a:endParaRPr/>
          </a:p>
        </p:txBody>
      </p:sp>
      <p:sp>
        <p:nvSpPr>
          <p:cNvPr id="3" name="Rectangle 2"/>
          <p:cNvSpPr>
            <a:spLocks noGrp="1" noChangeArrowheads="1"/>
          </p:cNvSpPr>
          <p:nvPr>
            <p:ph type="body" idx="1"/>
          </p:nvPr>
        </p:nvSpPr>
        <p:spPr bwMode="auto">
          <a:xfrm>
            <a:off x="311700" y="1262612"/>
            <a:ext cx="781294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dirty="0" smtClean="0">
                <a:ln>
                  <a:noFill/>
                </a:ln>
                <a:solidFill>
                  <a:schemeClr val="tx1"/>
                </a:solidFill>
                <a:effectLst/>
                <a:latin typeface="Arial" panose="020B0604020202020204" pitchFamily="34" charset="0"/>
              </a:rPr>
              <a:t> Construir um Data Mart para centralizar dados históricos de vendas (2016 a 2018).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smtClean="0">
                <a:ln>
                  <a:noFill/>
                </a:ln>
                <a:solidFill>
                  <a:schemeClr val="tx1"/>
                </a:solidFill>
                <a:effectLst/>
                <a:latin typeface="Arial" panose="020B0604020202020204" pitchFamily="34" charset="0"/>
              </a:rPr>
              <a:t> Objetivo:</a:t>
            </a:r>
            <a:r>
              <a:rPr kumimoji="0" lang="pt-BR" altLang="pt-BR" sz="1800" b="0" i="0" u="none" strike="noStrike" cap="none" normalizeH="0" baseline="0" dirty="0" smtClean="0">
                <a:ln>
                  <a:noFill/>
                </a:ln>
                <a:solidFill>
                  <a:schemeClr val="tx1"/>
                </a:solidFill>
                <a:effectLst/>
                <a:latin typeface="Arial" panose="020B0604020202020204" pitchFamily="34" charset="0"/>
              </a:rPr>
              <a:t> Permitir a análise de faturamento por categoria de produto, distribuição geográfica de clientes e sazonalidade de vendas ao longo do tempo.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3"/>
            </a:pPr>
            <a:r>
              <a:rPr lang="pt-BR"/>
              <a:t>Arquitetura Tecnológica</a:t>
            </a:r>
            <a:endParaRPr/>
          </a:p>
        </p:txBody>
      </p:sp>
      <p:sp>
        <p:nvSpPr>
          <p:cNvPr id="2" name="Rectangle 1"/>
          <p:cNvSpPr>
            <a:spLocks noGrp="1" noChangeArrowheads="1"/>
          </p:cNvSpPr>
          <p:nvPr>
            <p:ph type="body" idx="1"/>
          </p:nvPr>
        </p:nvSpPr>
        <p:spPr bwMode="auto">
          <a:xfrm>
            <a:off x="310600" y="114372"/>
            <a:ext cx="852170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smtClean="0">
                <a:ln>
                  <a:noFill/>
                </a:ln>
                <a:solidFill>
                  <a:schemeClr val="tx1"/>
                </a:solidFill>
                <a:effectLst/>
                <a:latin typeface="Arial" panose="020B0604020202020204" pitchFamily="34" charset="0"/>
              </a:rPr>
              <a:t>Origem:</a:t>
            </a:r>
            <a:r>
              <a:rPr kumimoji="0" lang="pt-BR" altLang="pt-BR" sz="1800" b="0" i="0" u="none" strike="noStrike" cap="none" normalizeH="0" baseline="0" dirty="0" smtClean="0">
                <a:ln>
                  <a:noFill/>
                </a:ln>
                <a:solidFill>
                  <a:schemeClr val="tx1"/>
                </a:solidFill>
                <a:effectLst/>
                <a:latin typeface="Arial" panose="020B0604020202020204" pitchFamily="34" charset="0"/>
              </a:rPr>
              <a:t> Arquivos Planos (CSV).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smtClean="0">
                <a:ln>
                  <a:noFill/>
                </a:ln>
                <a:solidFill>
                  <a:schemeClr val="tx1"/>
                </a:solidFill>
                <a:effectLst/>
                <a:latin typeface="Arial" panose="020B0604020202020204" pitchFamily="34" charset="0"/>
              </a:rPr>
              <a:t>ETL:</a:t>
            </a:r>
            <a:r>
              <a:rPr kumimoji="0" lang="pt-BR" altLang="pt-BR" sz="1800" b="0" i="0" u="none" strike="noStrike" cap="none" normalizeH="0" baseline="0" dirty="0" smtClean="0">
                <a:ln>
                  <a:noFill/>
                </a:ln>
                <a:solidFill>
                  <a:schemeClr val="tx1"/>
                </a:solidFill>
                <a:effectLst/>
                <a:latin typeface="Arial" panose="020B0604020202020204" pitchFamily="34" charset="0"/>
              </a:rPr>
              <a:t> </a:t>
            </a:r>
            <a:r>
              <a:rPr kumimoji="0" lang="pt-BR" altLang="pt-BR" sz="1800" b="0" i="0" u="none" strike="noStrike" cap="none" normalizeH="0" baseline="0" dirty="0" err="1" smtClean="0">
                <a:ln>
                  <a:noFill/>
                </a:ln>
                <a:solidFill>
                  <a:schemeClr val="tx1"/>
                </a:solidFill>
                <a:effectLst/>
                <a:latin typeface="Arial" panose="020B0604020202020204" pitchFamily="34" charset="0"/>
              </a:rPr>
              <a:t>Pentaho</a:t>
            </a:r>
            <a:r>
              <a:rPr kumimoji="0" lang="pt-BR" altLang="pt-BR" sz="1800" b="0" i="0" u="none" strike="noStrike" cap="none" normalizeH="0" baseline="0" dirty="0" smtClean="0">
                <a:ln>
                  <a:noFill/>
                </a:ln>
                <a:solidFill>
                  <a:schemeClr val="tx1"/>
                </a:solidFill>
                <a:effectLst/>
                <a:latin typeface="Arial" panose="020B0604020202020204" pitchFamily="34" charset="0"/>
              </a:rPr>
              <a:t> Data </a:t>
            </a:r>
            <a:r>
              <a:rPr kumimoji="0" lang="pt-BR" altLang="pt-BR" sz="1800" b="0" i="0" u="none" strike="noStrike" cap="none" normalizeH="0" baseline="0" dirty="0" err="1" smtClean="0">
                <a:ln>
                  <a:noFill/>
                </a:ln>
                <a:solidFill>
                  <a:schemeClr val="tx1"/>
                </a:solidFill>
                <a:effectLst/>
                <a:latin typeface="Arial" panose="020B0604020202020204" pitchFamily="34" charset="0"/>
              </a:rPr>
              <a:t>Integration</a:t>
            </a:r>
            <a:r>
              <a:rPr kumimoji="0" lang="pt-BR" altLang="pt-BR" sz="1800" b="0" i="0" u="none" strike="noStrike" cap="none" normalizeH="0" baseline="0" dirty="0" smtClean="0">
                <a:ln>
                  <a:noFill/>
                </a:ln>
                <a:solidFill>
                  <a:schemeClr val="tx1"/>
                </a:solidFill>
                <a:effectLst/>
                <a:latin typeface="Arial" panose="020B0604020202020204" pitchFamily="34" charset="0"/>
              </a:rPr>
              <a:t> (PDI/</a:t>
            </a:r>
            <a:r>
              <a:rPr kumimoji="0" lang="pt-BR" altLang="pt-BR" sz="1800" b="0" i="0" u="none" strike="noStrike" cap="none" normalizeH="0" baseline="0" dirty="0" err="1" smtClean="0">
                <a:ln>
                  <a:noFill/>
                </a:ln>
                <a:solidFill>
                  <a:schemeClr val="tx1"/>
                </a:solidFill>
                <a:effectLst/>
                <a:latin typeface="Arial" panose="020B0604020202020204" pitchFamily="34" charset="0"/>
              </a:rPr>
              <a:t>Spoon</a:t>
            </a:r>
            <a:r>
              <a:rPr kumimoji="0" lang="pt-BR" altLang="pt-BR" sz="1800" b="0" i="0" u="none" strike="noStrike" cap="none" normalizeH="0" baseline="0" dirty="0" smtClean="0">
                <a:ln>
                  <a:noFill/>
                </a:ln>
                <a:solidFill>
                  <a:schemeClr val="tx1"/>
                </a:solidFill>
                <a:effectLst/>
                <a:latin typeface="Arial" panose="020B0604020202020204" pitchFamily="34" charset="0"/>
              </a:rPr>
              <a:t>) v10.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smtClean="0">
                <a:ln>
                  <a:noFill/>
                </a:ln>
                <a:solidFill>
                  <a:schemeClr val="tx1"/>
                </a:solidFill>
                <a:effectLst/>
                <a:latin typeface="Arial" panose="020B0604020202020204" pitchFamily="34" charset="0"/>
              </a:rPr>
              <a:t>DW (Armazenamento):</a:t>
            </a:r>
            <a:r>
              <a:rPr kumimoji="0" lang="pt-BR" altLang="pt-BR" sz="1800" b="0" i="0" u="none" strike="noStrike" cap="none" normalizeH="0" baseline="0" dirty="0" smtClean="0">
                <a:ln>
                  <a:noFill/>
                </a:ln>
                <a:solidFill>
                  <a:schemeClr val="tx1"/>
                </a:solidFill>
                <a:effectLst/>
                <a:latin typeface="Arial" panose="020B0604020202020204" pitchFamily="34" charset="0"/>
              </a:rPr>
              <a:t> </a:t>
            </a:r>
            <a:r>
              <a:rPr kumimoji="0" lang="pt-BR" altLang="pt-BR" sz="1800" b="0" i="0" u="none" strike="noStrike" cap="none" normalizeH="0" baseline="0" dirty="0" err="1" smtClean="0">
                <a:ln>
                  <a:noFill/>
                </a:ln>
                <a:solidFill>
                  <a:schemeClr val="tx1"/>
                </a:solidFill>
                <a:effectLst/>
                <a:latin typeface="Arial" panose="020B0604020202020204" pitchFamily="34" charset="0"/>
              </a:rPr>
              <a:t>PostgreSQL</a:t>
            </a:r>
            <a:r>
              <a:rPr kumimoji="0" lang="pt-BR" altLang="pt-BR" sz="1800" b="0" i="0" u="none" strike="noStrike" cap="none" normalizeH="0" baseline="0" dirty="0" smtClean="0">
                <a:ln>
                  <a:noFill/>
                </a:ln>
                <a:solidFill>
                  <a:schemeClr val="tx1"/>
                </a:solidFill>
                <a:effectLst/>
                <a:latin typeface="Arial" panose="020B0604020202020204" pitchFamily="34" charset="0"/>
              </a:rPr>
              <a:t> (Banco Relacional).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smtClean="0">
                <a:ln>
                  <a:noFill/>
                </a:ln>
                <a:solidFill>
                  <a:schemeClr val="tx1"/>
                </a:solidFill>
                <a:effectLst/>
                <a:latin typeface="Arial" panose="020B0604020202020204" pitchFamily="34" charset="0"/>
              </a:rPr>
              <a:t>OLAP/Visualização:</a:t>
            </a:r>
            <a:r>
              <a:rPr kumimoji="0" lang="pt-BR" altLang="pt-BR" sz="1800" b="0" i="0" u="none" strike="noStrike" cap="none" normalizeH="0" baseline="0" dirty="0" smtClean="0">
                <a:ln>
                  <a:noFill/>
                </a:ln>
                <a:solidFill>
                  <a:schemeClr val="tx1"/>
                </a:solidFill>
                <a:effectLst/>
                <a:latin typeface="Arial" panose="020B0604020202020204" pitchFamily="34" charset="0"/>
              </a:rPr>
              <a:t> Power BI.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4"/>
            </a:pPr>
            <a:r>
              <a:rPr lang="pt-BR"/>
              <a:t>Processo</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buNone/>
            </a:pPr>
            <a:r>
              <a:rPr lang="pt-BR" dirty="0"/>
              <a:t>Extração dos dados brutos -&gt; Limpeza e Tratamento no </a:t>
            </a:r>
            <a:r>
              <a:rPr lang="pt-BR" dirty="0" err="1"/>
              <a:t>Pentaho</a:t>
            </a:r>
            <a:r>
              <a:rPr lang="pt-BR" dirty="0"/>
              <a:t> -&gt; Carga em Esquema Estrela no </a:t>
            </a:r>
            <a:r>
              <a:rPr lang="pt-BR" dirty="0" err="1"/>
              <a:t>Postgres</a:t>
            </a:r>
            <a:r>
              <a:rPr lang="pt-BR" dirty="0"/>
              <a:t> -&gt; Conexão e </a:t>
            </a:r>
            <a:r>
              <a:rPr lang="pt-BR" dirty="0" err="1"/>
              <a:t>Dashboard</a:t>
            </a:r>
            <a:r>
              <a:rPr lang="pt-BR" dirty="0"/>
              <a:t> no Power BI.</a:t>
            </a:r>
            <a:endParaRPr dirty="0"/>
          </a:p>
          <a:p>
            <a:pPr marL="0" lvl="0" indent="0" algn="l" rtl="0">
              <a:spcBef>
                <a:spcPts val="1600"/>
              </a:spcBef>
              <a:spcAft>
                <a:spcPts val="16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4"/>
            </a:pPr>
            <a:r>
              <a:rPr lang="pt-BR"/>
              <a:t>Abordagem</a:t>
            </a:r>
            <a:endParaRPr/>
          </a:p>
        </p:txBody>
      </p:sp>
      <p:sp>
        <p:nvSpPr>
          <p:cNvPr id="4" name="Rectangle 3"/>
          <p:cNvSpPr>
            <a:spLocks noGrp="1" noChangeArrowheads="1"/>
          </p:cNvSpPr>
          <p:nvPr>
            <p:ph type="body" idx="1"/>
          </p:nvPr>
        </p:nvSpPr>
        <p:spPr bwMode="auto">
          <a:xfrm>
            <a:off x="311700" y="1298979"/>
            <a:ext cx="725726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dirty="0"/>
              <a:t> </a:t>
            </a:r>
            <a:r>
              <a:rPr lang="pt-BR" altLang="pt-BR" dirty="0" err="1"/>
              <a:t>Bottom-up</a:t>
            </a:r>
            <a:r>
              <a:rPr lang="pt-BR" altLang="pt-BR" dirty="0"/>
              <a:t> (</a:t>
            </a:r>
            <a:r>
              <a:rPr lang="pt-BR" altLang="pt-BR" dirty="0" smtClean="0"/>
              <a:t>Foco </a:t>
            </a:r>
            <a:r>
              <a:rPr lang="pt-BR" altLang="pt-BR" dirty="0"/>
              <a:t>em resolver um processo específico: Vendas).</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dirty="0"/>
              <a:t> Star </a:t>
            </a:r>
            <a:r>
              <a:rPr lang="pt-BR" altLang="pt-BR" dirty="0" err="1"/>
              <a:t>Schema</a:t>
            </a:r>
            <a:r>
              <a:rPr lang="pt-BR" altLang="pt-BR" dirty="0"/>
              <a:t> (Esquema Estrela) - Fato no centro e dimensões ao redor, </a:t>
            </a:r>
            <a:r>
              <a:rPr lang="pt-BR" altLang="pt-BR" dirty="0" err="1"/>
              <a:t>desnormalizado</a:t>
            </a:r>
            <a:r>
              <a:rPr lang="pt-BR" altLang="pt-BR" dirty="0"/>
              <a:t> para performance de leitura.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5"/>
            </a:pPr>
            <a:r>
              <a:rPr lang="pt-BR"/>
              <a:t>Usuários</a:t>
            </a:r>
            <a:endParaRPr/>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spcAft>
                <a:spcPts val="1600"/>
              </a:spcAft>
              <a:buNone/>
            </a:pPr>
            <a:r>
              <a:rPr lang="pt-BR" dirty="0"/>
              <a:t>Gerentes de Vendas, Analistas de E-commerce e Gestores Regionais.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pt-BR"/>
              <a:t>ETAPA 2 - LEVANTAMENTO DAS NECESSIDADES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6"/>
            </a:pPr>
            <a:r>
              <a:rPr lang="pt-BR" dirty="0"/>
              <a:t>Consultas de Apoio à </a:t>
            </a:r>
            <a:r>
              <a:rPr lang="pt-BR" dirty="0" smtClean="0"/>
              <a:t>Decisão</a:t>
            </a:r>
            <a:br>
              <a:rPr lang="pt-BR" dirty="0" smtClean="0"/>
            </a:br>
            <a:r>
              <a:rPr lang="pt-BR" dirty="0"/>
              <a:t/>
            </a:r>
            <a:br>
              <a:rPr lang="pt-BR" dirty="0"/>
            </a:br>
            <a:endParaRPr dirty="0"/>
          </a:p>
        </p:txBody>
      </p:sp>
      <p:sp>
        <p:nvSpPr>
          <p:cNvPr id="108" name="Google Shape;108;p22"/>
          <p:cNvSpPr txBox="1">
            <a:spLocks noGrp="1"/>
          </p:cNvSpPr>
          <p:nvPr>
            <p:ph type="body" idx="1"/>
          </p:nvPr>
        </p:nvSpPr>
        <p:spPr>
          <a:xfrm>
            <a:off x="373576" y="445024"/>
            <a:ext cx="8520600" cy="2841316"/>
          </a:xfrm>
          <a:prstGeom prst="rect">
            <a:avLst/>
          </a:prstGeom>
        </p:spPr>
        <p:txBody>
          <a:bodyPr spcFirstLastPara="1" wrap="square" lIns="91425" tIns="91425" rIns="91425" bIns="91425" anchor="t" anchorCtr="0">
            <a:noAutofit/>
          </a:bodyPr>
          <a:lstStyle/>
          <a:p>
            <a:pPr marL="0" lvl="0" indent="0" algn="l" rtl="0">
              <a:spcBef>
                <a:spcPts val="1600"/>
              </a:spcBef>
              <a:spcAft>
                <a:spcPts val="1600"/>
              </a:spcAft>
              <a:buNone/>
            </a:pPr>
            <a:endParaRPr lang="pt-BR" dirty="0" smtClean="0"/>
          </a:p>
          <a:p>
            <a:pPr marL="0" lvl="0" indent="0" algn="l" rtl="0">
              <a:spcBef>
                <a:spcPts val="1600"/>
              </a:spcBef>
              <a:spcAft>
                <a:spcPts val="1600"/>
              </a:spcAft>
              <a:buNone/>
            </a:pPr>
            <a:endParaRPr lang="pt-BR" dirty="0"/>
          </a:p>
        </p:txBody>
      </p:sp>
      <p:sp>
        <p:nvSpPr>
          <p:cNvPr id="4" name="Rectangle 3"/>
          <p:cNvSpPr>
            <a:spLocks noChangeArrowheads="1"/>
          </p:cNvSpPr>
          <p:nvPr/>
        </p:nvSpPr>
        <p:spPr bwMode="auto">
          <a:xfrm>
            <a:off x="373576" y="939879"/>
            <a:ext cx="670786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dirty="0" smtClean="0">
                <a:ln>
                  <a:noFill/>
                </a:ln>
                <a:solidFill>
                  <a:schemeClr val="tx1"/>
                </a:solidFill>
                <a:effectLst/>
                <a:latin typeface="Arial" panose="020B0604020202020204" pitchFamily="34" charset="0"/>
              </a:rPr>
              <a:t> Quais categorias de produtos geram maior faturamento?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dirty="0" smtClean="0">
                <a:ln>
                  <a:noFill/>
                </a:ln>
                <a:solidFill>
                  <a:schemeClr val="tx1"/>
                </a:solidFill>
                <a:effectLst/>
                <a:latin typeface="Arial" panose="020B0604020202020204" pitchFamily="34" charset="0"/>
              </a:rPr>
              <a:t> Qual é a concentração de vendas por Estado (UF)?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dirty="0" smtClean="0">
                <a:ln>
                  <a:noFill/>
                </a:ln>
                <a:solidFill>
                  <a:schemeClr val="tx1"/>
                </a:solidFill>
                <a:effectLst/>
                <a:latin typeface="Arial" panose="020B0604020202020204" pitchFamily="34" charset="0"/>
              </a:rPr>
              <a:t> Como as vendas evoluíram mês a mês nos últimos anos?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7"/>
            </a:pPr>
            <a:r>
              <a:rPr lang="pt-BR"/>
              <a:t>Indicadores do &lt;negócio&gt;</a:t>
            </a:r>
            <a:endParaRPr/>
          </a:p>
          <a:p>
            <a:pPr marL="457200" lvl="0" indent="0" algn="l" rtl="0">
              <a:spcBef>
                <a:spcPts val="0"/>
              </a:spcBef>
              <a:spcAft>
                <a:spcPts val="0"/>
              </a:spcAft>
              <a:buNone/>
            </a:pPr>
            <a:endParaRPr/>
          </a:p>
        </p:txBody>
      </p:sp>
      <p:sp>
        <p:nvSpPr>
          <p:cNvPr id="2" name="Rectangle 1"/>
          <p:cNvSpPr>
            <a:spLocks noGrp="1" noChangeArrowheads="1"/>
          </p:cNvSpPr>
          <p:nvPr>
            <p:ph type="body" idx="1"/>
          </p:nvPr>
        </p:nvSpPr>
        <p:spPr bwMode="auto">
          <a:xfrm>
            <a:off x="310600" y="-78134"/>
            <a:ext cx="852170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smtClean="0">
                <a:ln>
                  <a:noFill/>
                </a:ln>
                <a:solidFill>
                  <a:schemeClr val="tx1"/>
                </a:solidFill>
                <a:effectLst/>
                <a:latin typeface="Arial" panose="020B0604020202020204" pitchFamily="34" charset="0"/>
              </a:rPr>
              <a:t>Valor Total de Vendas (Faturamento):</a:t>
            </a:r>
            <a:r>
              <a:rPr kumimoji="0" lang="pt-BR" altLang="pt-BR" sz="1800" b="0" i="0" u="none" strike="noStrike" cap="none" normalizeH="0" baseline="0" dirty="0" smtClean="0">
                <a:ln>
                  <a:noFill/>
                </a:ln>
                <a:solidFill>
                  <a:schemeClr val="tx1"/>
                </a:solidFill>
                <a:effectLst/>
                <a:latin typeface="Arial" panose="020B0604020202020204" pitchFamily="34" charset="0"/>
              </a:rPr>
              <a:t> Soma do preço dos produtos vendidos.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smtClean="0">
                <a:ln>
                  <a:noFill/>
                </a:ln>
                <a:solidFill>
                  <a:schemeClr val="tx1"/>
                </a:solidFill>
                <a:effectLst/>
                <a:latin typeface="Arial" panose="020B0604020202020204" pitchFamily="34" charset="0"/>
              </a:rPr>
              <a:t>Valor de Frete:</a:t>
            </a:r>
            <a:r>
              <a:rPr kumimoji="0" lang="pt-BR" altLang="pt-BR" sz="1800" b="0" i="0" u="none" strike="noStrike" cap="none" normalizeH="0" baseline="0" dirty="0" smtClean="0">
                <a:ln>
                  <a:noFill/>
                </a:ln>
                <a:solidFill>
                  <a:schemeClr val="tx1"/>
                </a:solidFill>
                <a:effectLst/>
                <a:latin typeface="Arial" panose="020B0604020202020204" pitchFamily="34" charset="0"/>
              </a:rPr>
              <a:t> Soma do custo de envio.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smtClean="0">
                <a:ln>
                  <a:noFill/>
                </a:ln>
                <a:solidFill>
                  <a:schemeClr val="tx1"/>
                </a:solidFill>
                <a:effectLst/>
                <a:latin typeface="Arial" panose="020B0604020202020204" pitchFamily="34" charset="0"/>
              </a:rPr>
              <a:t>Quantidade de Pedidos:</a:t>
            </a:r>
            <a:r>
              <a:rPr kumimoji="0" lang="pt-BR" altLang="pt-BR" sz="1800" b="0" i="0" u="none" strike="noStrike" cap="none" normalizeH="0" baseline="0" dirty="0" smtClean="0">
                <a:ln>
                  <a:noFill/>
                </a:ln>
                <a:solidFill>
                  <a:schemeClr val="tx1"/>
                </a:solidFill>
                <a:effectLst/>
                <a:latin typeface="Arial" panose="020B0604020202020204" pitchFamily="34" charset="0"/>
              </a:rPr>
              <a:t> Volume total de transações.</a:t>
            </a:r>
          </a:p>
        </p:txBody>
      </p:sp>
      <p:sp>
        <p:nvSpPr>
          <p:cNvPr id="6" name="Rectangle 4"/>
          <p:cNvSpPr>
            <a:spLocks noChangeArrowheads="1"/>
          </p:cNvSpPr>
          <p:nvPr/>
        </p:nvSpPr>
        <p:spPr bwMode="auto">
          <a:xfrm>
            <a:off x="310600" y="4220817"/>
            <a:ext cx="72346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200" b="1" i="0" u="none" strike="noStrike" cap="none" normalizeH="0" baseline="0" dirty="0" smtClean="0">
                <a:ln>
                  <a:noFill/>
                </a:ln>
                <a:solidFill>
                  <a:schemeClr val="tx1"/>
                </a:solidFill>
                <a:effectLst/>
                <a:latin typeface="Arial" panose="020B0604020202020204" pitchFamily="34" charset="0"/>
              </a:rPr>
              <a:t>Fonte:</a:t>
            </a:r>
            <a:r>
              <a:rPr kumimoji="0" lang="pt-BR" altLang="pt-BR" sz="1200" b="0" i="0" u="none" strike="noStrike" cap="none" normalizeH="0" baseline="0" dirty="0" smtClean="0">
                <a:ln>
                  <a:noFill/>
                </a:ln>
                <a:solidFill>
                  <a:schemeClr val="tx1"/>
                </a:solidFill>
                <a:effectLst/>
                <a:latin typeface="Arial" panose="020B0604020202020204" pitchFamily="34" charset="0"/>
              </a:rPr>
              <a:t> "Análise exploratória do </a:t>
            </a:r>
            <a:r>
              <a:rPr kumimoji="0" lang="pt-BR" altLang="pt-BR" sz="1200" b="0" i="1" u="none" strike="noStrike" cap="none" normalizeH="0" baseline="0" dirty="0" err="1" smtClean="0">
                <a:ln>
                  <a:noFill/>
                </a:ln>
                <a:solidFill>
                  <a:schemeClr val="tx1"/>
                </a:solidFill>
                <a:effectLst/>
                <a:latin typeface="Arial" panose="020B0604020202020204" pitchFamily="34" charset="0"/>
              </a:rPr>
              <a:t>Brazilian</a:t>
            </a:r>
            <a:r>
              <a:rPr kumimoji="0" lang="pt-BR" altLang="pt-BR" sz="1200" b="0" i="1" u="none" strike="noStrike" cap="none" normalizeH="0" baseline="0" dirty="0" smtClean="0">
                <a:ln>
                  <a:noFill/>
                </a:ln>
                <a:solidFill>
                  <a:schemeClr val="tx1"/>
                </a:solidFill>
                <a:effectLst/>
                <a:latin typeface="Arial" panose="020B0604020202020204" pitchFamily="34" charset="0"/>
              </a:rPr>
              <a:t> E-Commerce </a:t>
            </a:r>
            <a:r>
              <a:rPr kumimoji="0" lang="pt-BR" altLang="pt-BR" sz="1200" b="0" i="1" u="none" strike="noStrike" cap="none" normalizeH="0" baseline="0" dirty="0" err="1" smtClean="0">
                <a:ln>
                  <a:noFill/>
                </a:ln>
                <a:solidFill>
                  <a:schemeClr val="tx1"/>
                </a:solidFill>
                <a:effectLst/>
                <a:latin typeface="Arial" panose="020B0604020202020204" pitchFamily="34" charset="0"/>
              </a:rPr>
              <a:t>Public</a:t>
            </a:r>
            <a:r>
              <a:rPr kumimoji="0" lang="pt-BR" altLang="pt-BR" sz="1200" b="0" i="1" u="none" strike="noStrike" cap="none" normalizeH="0" baseline="0" dirty="0" smtClean="0">
                <a:ln>
                  <a:noFill/>
                </a:ln>
                <a:solidFill>
                  <a:schemeClr val="tx1"/>
                </a:solidFill>
                <a:effectLst/>
                <a:latin typeface="Arial" panose="020B0604020202020204" pitchFamily="34" charset="0"/>
              </a:rPr>
              <a:t> </a:t>
            </a:r>
            <a:r>
              <a:rPr kumimoji="0" lang="pt-BR" altLang="pt-BR" sz="1200" b="0" i="1" u="none" strike="noStrike" cap="none" normalizeH="0" baseline="0" dirty="0" err="1" smtClean="0">
                <a:ln>
                  <a:noFill/>
                </a:ln>
                <a:solidFill>
                  <a:schemeClr val="tx1"/>
                </a:solidFill>
                <a:effectLst/>
                <a:latin typeface="Arial" panose="020B0604020202020204" pitchFamily="34" charset="0"/>
              </a:rPr>
              <a:t>Dataset</a:t>
            </a:r>
            <a:r>
              <a:rPr kumimoji="0" lang="pt-BR" altLang="pt-BR" sz="1200" b="0" i="1" u="none" strike="noStrike" cap="none" normalizeH="0" baseline="0" dirty="0" smtClean="0">
                <a:ln>
                  <a:noFill/>
                </a:ln>
                <a:solidFill>
                  <a:schemeClr val="tx1"/>
                </a:solidFill>
                <a:effectLst/>
                <a:latin typeface="Arial" panose="020B0604020202020204" pitchFamily="34" charset="0"/>
              </a:rPr>
              <a:t> </a:t>
            </a:r>
            <a:r>
              <a:rPr kumimoji="0" lang="pt-BR" altLang="pt-BR" sz="1200" b="0" i="1" u="none" strike="noStrike" cap="none" normalizeH="0" baseline="0" dirty="0" err="1" smtClean="0">
                <a:ln>
                  <a:noFill/>
                </a:ln>
                <a:solidFill>
                  <a:schemeClr val="tx1"/>
                </a:solidFill>
                <a:effectLst/>
                <a:latin typeface="Arial" panose="020B0604020202020204" pitchFamily="34" charset="0"/>
              </a:rPr>
              <a:t>by</a:t>
            </a:r>
            <a:r>
              <a:rPr kumimoji="0" lang="pt-BR" altLang="pt-BR" sz="1200" b="0" i="1" u="none" strike="noStrike" cap="none" normalizeH="0" baseline="0" dirty="0" smtClean="0">
                <a:ln>
                  <a:noFill/>
                </a:ln>
                <a:solidFill>
                  <a:schemeClr val="tx1"/>
                </a:solidFill>
                <a:effectLst/>
                <a:latin typeface="Arial" panose="020B0604020202020204" pitchFamily="34" charset="0"/>
              </a:rPr>
              <a:t> </a:t>
            </a:r>
            <a:r>
              <a:rPr kumimoji="0" lang="pt-BR" altLang="pt-BR" sz="1200" b="0" i="1" u="none" strike="noStrike" cap="none" normalizeH="0" baseline="0" dirty="0" err="1" smtClean="0">
                <a:ln>
                  <a:noFill/>
                </a:ln>
                <a:solidFill>
                  <a:schemeClr val="tx1"/>
                </a:solidFill>
                <a:effectLst/>
                <a:latin typeface="Arial" panose="020B0604020202020204" pitchFamily="34" charset="0"/>
              </a:rPr>
              <a:t>Olist</a:t>
            </a:r>
            <a:r>
              <a:rPr kumimoji="0" lang="pt-BR" altLang="pt-BR" sz="1200" b="0" i="0" u="none" strike="noStrike" cap="none" normalizeH="0" baseline="0" dirty="0" smtClean="0">
                <a:ln>
                  <a:noFill/>
                </a:ln>
                <a:solidFill>
                  <a:schemeClr val="tx1"/>
                </a:solidFill>
                <a:effectLst/>
                <a:latin typeface="Arial" panose="020B0604020202020204" pitchFamily="34" charset="0"/>
              </a:rPr>
              <a:t> (</a:t>
            </a:r>
            <a:r>
              <a:rPr kumimoji="0" lang="pt-BR" altLang="pt-BR" sz="1200" b="0" i="0" u="none" strike="noStrike" cap="none" normalizeH="0" baseline="0" dirty="0" err="1" smtClean="0">
                <a:ln>
                  <a:noFill/>
                </a:ln>
                <a:solidFill>
                  <a:schemeClr val="tx1"/>
                </a:solidFill>
                <a:effectLst/>
                <a:latin typeface="Arial" panose="020B0604020202020204" pitchFamily="34" charset="0"/>
              </a:rPr>
              <a:t>Kaggle</a:t>
            </a:r>
            <a:r>
              <a:rPr kumimoji="0" lang="pt-BR" altLang="pt-BR" sz="1200" b="0" i="0" u="none" strike="noStrike" cap="none" normalizeH="0" baseline="0" dirty="0" smtClean="0">
                <a:ln>
                  <a:noFill/>
                </a:ln>
                <a:solidFill>
                  <a:schemeClr val="tx1"/>
                </a:solidFill>
                <a:effectLst/>
                <a:latin typeface="Arial" panose="020B0604020202020204" pitchFamily="34" charset="0"/>
              </a:rPr>
              <a:t>). Os indicadores foram derivados diretamente das colunas transacionais dos arquivos </a:t>
            </a:r>
            <a:r>
              <a:rPr kumimoji="0" lang="pt-BR" altLang="pt-BR" sz="1200" b="0" i="0" u="none" strike="noStrike" cap="none" normalizeH="0" baseline="0" dirty="0" smtClean="0">
                <a:ln>
                  <a:noFill/>
                </a:ln>
                <a:solidFill>
                  <a:schemeClr val="tx1"/>
                </a:solidFill>
                <a:effectLst/>
                <a:latin typeface="Arial Unicode MS"/>
              </a:rPr>
              <a:t>olist_order_items_dataset.csv</a:t>
            </a:r>
            <a:r>
              <a:rPr kumimoji="0" lang="pt-BR" altLang="pt-BR" sz="1200" b="0" i="0" u="none" strike="noStrike" cap="none" normalizeH="0" baseline="0" dirty="0" smtClean="0">
                <a:ln>
                  <a:noFill/>
                </a:ln>
                <a:solidFill>
                  <a:schemeClr val="tx1"/>
                </a:solidFill>
                <a:effectLst/>
              </a:rPr>
              <a:t> (campos </a:t>
            </a:r>
            <a:r>
              <a:rPr kumimoji="0" lang="pt-BR" altLang="pt-BR" sz="1200" b="0" i="0" u="none" strike="noStrike" cap="none" normalizeH="0" baseline="0" dirty="0" err="1" smtClean="0">
                <a:ln>
                  <a:noFill/>
                </a:ln>
                <a:solidFill>
                  <a:schemeClr val="tx1"/>
                </a:solidFill>
                <a:effectLst/>
                <a:latin typeface="Arial Unicode MS"/>
              </a:rPr>
              <a:t>price</a:t>
            </a:r>
            <a:r>
              <a:rPr kumimoji="0" lang="pt-BR" altLang="pt-BR" sz="1200" b="0" i="0" u="none" strike="noStrike" cap="none" normalizeH="0" baseline="0" dirty="0" smtClean="0">
                <a:ln>
                  <a:noFill/>
                </a:ln>
                <a:solidFill>
                  <a:schemeClr val="tx1"/>
                </a:solidFill>
                <a:effectLst/>
              </a:rPr>
              <a:t> e </a:t>
            </a:r>
            <a:r>
              <a:rPr kumimoji="0" lang="pt-BR" altLang="pt-BR" sz="1200" b="0" i="0" u="none" strike="noStrike" cap="none" normalizeH="0" baseline="0" dirty="0" err="1" smtClean="0">
                <a:ln>
                  <a:noFill/>
                </a:ln>
                <a:solidFill>
                  <a:schemeClr val="tx1"/>
                </a:solidFill>
                <a:effectLst/>
                <a:latin typeface="Arial Unicode MS"/>
              </a:rPr>
              <a:t>freight_value</a:t>
            </a:r>
            <a:r>
              <a:rPr kumimoji="0" lang="pt-BR" altLang="pt-BR" sz="1200" b="0" i="0" u="none" strike="noStrike" cap="none" normalizeH="0" baseline="0" dirty="0" smtClean="0">
                <a:ln>
                  <a:noFill/>
                </a:ln>
                <a:solidFill>
                  <a:schemeClr val="tx1"/>
                </a:solidFill>
                <a:effectLst/>
              </a:rPr>
              <a:t>) e </a:t>
            </a:r>
            <a:r>
              <a:rPr kumimoji="0" lang="pt-BR" altLang="pt-BR" sz="1200" b="0" i="0" u="none" strike="noStrike" cap="none" normalizeH="0" baseline="0" dirty="0" smtClean="0">
                <a:ln>
                  <a:noFill/>
                </a:ln>
                <a:solidFill>
                  <a:schemeClr val="tx1"/>
                </a:solidFill>
                <a:effectLst/>
                <a:latin typeface="Arial Unicode MS"/>
              </a:rPr>
              <a:t>olist_orders_dataset.csv</a:t>
            </a:r>
            <a:r>
              <a:rPr kumimoji="0" lang="pt-BR" altLang="pt-BR" sz="1200" b="0" i="0" u="none" strike="noStrike" cap="none" normalizeH="0" baseline="0" dirty="0" smtClean="0">
                <a:ln>
                  <a:noFill/>
                </a:ln>
                <a:solidFill>
                  <a:schemeClr val="tx1"/>
                </a:solidFill>
                <a:effectLst/>
              </a:rPr>
              <a:t>." </a:t>
            </a:r>
            <a:endParaRPr kumimoji="0" lang="pt-BR" altLang="pt-BR" sz="12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pt-BR"/>
              <a:t>ETAPA 3 - MODELAGEM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9"/>
            </a:pPr>
            <a:r>
              <a:rPr lang="pt-BR"/>
              <a:t>Modelo Relacional</a:t>
            </a:r>
            <a:endParaRPr/>
          </a:p>
        </p:txBody>
      </p:sp>
      <p:sp>
        <p:nvSpPr>
          <p:cNvPr id="127" name="Google Shape;127;p25"/>
          <p:cNvSpPr txBox="1"/>
          <p:nvPr/>
        </p:nvSpPr>
        <p:spPr>
          <a:xfrm>
            <a:off x="311700" y="4703625"/>
            <a:ext cx="7335600" cy="367500"/>
          </a:xfrm>
          <a:prstGeom prst="rect">
            <a:avLst/>
          </a:prstGeom>
          <a:noFill/>
          <a:ln>
            <a:noFill/>
          </a:ln>
        </p:spPr>
        <p:txBody>
          <a:bodyPr spcFirstLastPara="1" wrap="square" lIns="91425" tIns="91425" rIns="91425" bIns="91425" anchor="t" anchorCtr="0">
            <a:noAutofit/>
          </a:bodyPr>
          <a:lstStyle/>
          <a:p>
            <a:pPr lvl="0"/>
            <a:r>
              <a:rPr lang="pt-BR" b="1" dirty="0"/>
              <a:t>https://www.kaggle.com/datasets/olistbr/brazilian-ecommerce</a:t>
            </a:r>
            <a:endParaRPr b="1" dirty="0"/>
          </a:p>
        </p:txBody>
      </p:sp>
      <p:sp>
        <p:nvSpPr>
          <p:cNvPr id="5" name="Rectangle 4"/>
          <p:cNvSpPr>
            <a:spLocks noGrp="1" noChangeArrowheads="1"/>
          </p:cNvSpPr>
          <p:nvPr>
            <p:ph type="body" idx="1"/>
          </p:nvPr>
        </p:nvSpPr>
        <p:spPr bwMode="auto">
          <a:xfrm>
            <a:off x="311700" y="1300408"/>
            <a:ext cx="742343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smtClean="0">
                <a:ln>
                  <a:noFill/>
                </a:ln>
                <a:solidFill>
                  <a:schemeClr val="tx1"/>
                </a:solidFill>
                <a:effectLst/>
                <a:latin typeface="Arial" panose="020B0604020202020204" pitchFamily="34" charset="0"/>
              </a:rPr>
              <a:t>O modelo relacional de origem é composto por um conjunto de 8 arquivos </a:t>
            </a:r>
            <a:r>
              <a:rPr kumimoji="0" lang="pt-BR" altLang="pt-BR" sz="1600" b="0" i="0" u="none" strike="noStrike" cap="none" normalizeH="0" baseline="0" dirty="0" err="1" smtClean="0">
                <a:ln>
                  <a:noFill/>
                </a:ln>
                <a:solidFill>
                  <a:schemeClr val="tx1"/>
                </a:solidFill>
                <a:effectLst/>
                <a:latin typeface="Arial" panose="020B0604020202020204" pitchFamily="34" charset="0"/>
              </a:rPr>
              <a:t>CSVs</a:t>
            </a:r>
            <a:r>
              <a:rPr kumimoji="0" lang="pt-BR" altLang="pt-BR" sz="1600" b="0" i="0" u="none" strike="noStrike" cap="none" normalizeH="0" baseline="0" dirty="0" smtClean="0">
                <a:ln>
                  <a:noFill/>
                </a:ln>
                <a:solidFill>
                  <a:schemeClr val="tx1"/>
                </a:solidFill>
                <a:effectLst/>
                <a:latin typeface="Arial" panose="020B0604020202020204" pitchFamily="34" charset="0"/>
              </a:rPr>
              <a:t> interconectados que representam o banco de dados transacional da </a:t>
            </a:r>
            <a:r>
              <a:rPr kumimoji="0" lang="pt-BR" altLang="pt-BR" sz="1600" b="0" i="0" u="none" strike="noStrike" cap="none" normalizeH="0" baseline="0" dirty="0" err="1" smtClean="0">
                <a:ln>
                  <a:noFill/>
                </a:ln>
                <a:solidFill>
                  <a:schemeClr val="tx1"/>
                </a:solidFill>
                <a:effectLst/>
                <a:latin typeface="Arial" panose="020B0604020202020204" pitchFamily="34" charset="0"/>
              </a:rPr>
              <a:t>Olist</a:t>
            </a:r>
            <a:r>
              <a:rPr kumimoji="0" lang="pt-BR" altLang="pt-BR" sz="1600" b="0" i="0" u="none" strike="noStrike" cap="none" normalizeH="0" baseline="0" dirty="0" smtClean="0">
                <a:ln>
                  <a:noFill/>
                </a:ln>
                <a:solidFill>
                  <a:schemeClr val="tx1"/>
                </a:solidFill>
                <a:effectLst/>
                <a:latin typeface="Arial" panose="020B0604020202020204" pitchFamily="34" charset="0"/>
              </a:rPr>
              <a:t>. A estrutura central gira em torno da entidade </a:t>
            </a:r>
            <a:r>
              <a:rPr kumimoji="0" lang="pt-BR" altLang="pt-BR" sz="1600" b="0" i="0" u="none" strike="noStrike" cap="none" normalizeH="0" baseline="0" dirty="0" err="1" smtClean="0">
                <a:ln>
                  <a:noFill/>
                </a:ln>
                <a:solidFill>
                  <a:schemeClr val="tx1"/>
                </a:solidFill>
                <a:effectLst/>
                <a:latin typeface="Arial Unicode MS"/>
              </a:rPr>
              <a:t>Orders</a:t>
            </a:r>
            <a:r>
              <a:rPr kumimoji="0" lang="pt-BR" altLang="pt-BR" sz="1600" b="0" i="0" u="none" strike="noStrike" cap="none" normalizeH="0" baseline="0" dirty="0" smtClean="0">
                <a:ln>
                  <a:noFill/>
                </a:ln>
                <a:solidFill>
                  <a:schemeClr val="tx1"/>
                </a:solidFill>
                <a:effectLst/>
              </a:rPr>
              <a:t> (Pedidos), que se conecta a </a:t>
            </a:r>
            <a:r>
              <a:rPr kumimoji="0" lang="pt-BR" altLang="pt-BR" sz="1600" b="0" i="0" u="none" strike="noStrike" cap="none" normalizeH="0" baseline="0" dirty="0" err="1" smtClean="0">
                <a:ln>
                  <a:noFill/>
                </a:ln>
                <a:solidFill>
                  <a:schemeClr val="tx1"/>
                </a:solidFill>
                <a:effectLst/>
                <a:latin typeface="Arial Unicode MS"/>
              </a:rPr>
              <a:t>Order_Items</a:t>
            </a:r>
            <a:r>
              <a:rPr kumimoji="0" lang="pt-BR" altLang="pt-BR" sz="1600" b="0" i="0" u="none" strike="noStrike" cap="none" normalizeH="0" baseline="0" dirty="0" smtClean="0">
                <a:ln>
                  <a:noFill/>
                </a:ln>
                <a:solidFill>
                  <a:schemeClr val="tx1"/>
                </a:solidFill>
                <a:effectLst/>
              </a:rPr>
              <a:t> (detalhes do produto e preço), </a:t>
            </a:r>
            <a:r>
              <a:rPr kumimoji="0" lang="pt-BR" altLang="pt-BR" sz="1600" b="0" i="0" u="none" strike="noStrike" cap="none" normalizeH="0" baseline="0" dirty="0" err="1" smtClean="0">
                <a:ln>
                  <a:noFill/>
                </a:ln>
                <a:solidFill>
                  <a:schemeClr val="tx1"/>
                </a:solidFill>
                <a:effectLst/>
                <a:latin typeface="Arial Unicode MS"/>
              </a:rPr>
              <a:t>Customers</a:t>
            </a:r>
            <a:r>
              <a:rPr kumimoji="0" lang="pt-BR" altLang="pt-BR" sz="1600" b="0" i="0" u="none" strike="noStrike" cap="none" normalizeH="0" baseline="0" dirty="0" smtClean="0">
                <a:ln>
                  <a:noFill/>
                </a:ln>
                <a:solidFill>
                  <a:schemeClr val="tx1"/>
                </a:solidFill>
                <a:effectLst/>
              </a:rPr>
              <a:t> (dados demográficos do cliente) e </a:t>
            </a:r>
            <a:r>
              <a:rPr kumimoji="0" lang="pt-BR" altLang="pt-BR" sz="1600" b="0" i="0" u="none" strike="noStrike" cap="none" normalizeH="0" baseline="0" dirty="0" err="1" smtClean="0">
                <a:ln>
                  <a:noFill/>
                </a:ln>
                <a:solidFill>
                  <a:schemeClr val="tx1"/>
                </a:solidFill>
                <a:effectLst/>
                <a:latin typeface="Arial Unicode MS"/>
              </a:rPr>
              <a:t>Products</a:t>
            </a:r>
            <a:r>
              <a:rPr kumimoji="0" lang="pt-BR" altLang="pt-BR" sz="1600" b="0" i="0" u="none" strike="noStrike" cap="none" normalizeH="0" baseline="0" dirty="0" smtClean="0">
                <a:ln>
                  <a:noFill/>
                </a:ln>
                <a:solidFill>
                  <a:schemeClr val="tx1"/>
                </a:solidFill>
                <a:effectLst/>
              </a:rPr>
              <a:t> (catálogo de itens). O modelo está normalizado (3FN), otimizado para operações transacionais (OLTP). </a:t>
            </a:r>
            <a:endParaRPr kumimoji="0" lang="pt-BR" altLang="pt-BR" sz="16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0"/>
            </a:pPr>
            <a:r>
              <a:rPr lang="pt-BR" dirty="0"/>
              <a:t>Modelo Dimensional</a:t>
            </a:r>
            <a:endParaRPr dirty="0"/>
          </a:p>
        </p:txBody>
      </p:sp>
      <p:sp>
        <p:nvSpPr>
          <p:cNvPr id="133" name="Google Shape;133;p26"/>
          <p:cNvSpPr txBox="1">
            <a:spLocks noGrp="1"/>
          </p:cNvSpPr>
          <p:nvPr>
            <p:ph type="body" idx="1"/>
          </p:nvPr>
        </p:nvSpPr>
        <p:spPr>
          <a:xfrm>
            <a:off x="311700" y="1152475"/>
            <a:ext cx="8520600" cy="375715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lphaUcPeriod"/>
            </a:pPr>
            <a:r>
              <a:rPr lang="pt-BR" dirty="0"/>
              <a:t>Área de </a:t>
            </a:r>
            <a:r>
              <a:rPr lang="pt-BR" dirty="0" smtClean="0"/>
              <a:t>Negócios:</a:t>
            </a:r>
          </a:p>
          <a:p>
            <a:pPr marL="114300" lvl="0" indent="0">
              <a:buNone/>
            </a:pPr>
            <a:r>
              <a:rPr lang="pt-BR" dirty="0"/>
              <a:t>Comercial / E-commerce (Vendas e Faturamento</a:t>
            </a:r>
            <a:r>
              <a:rPr lang="pt-BR" dirty="0" smtClean="0"/>
              <a:t>).</a:t>
            </a:r>
            <a:endParaRPr dirty="0"/>
          </a:p>
          <a:p>
            <a:pPr marL="114300" lvl="0" indent="0" algn="l" rtl="0">
              <a:spcBef>
                <a:spcPts val="1600"/>
              </a:spcBef>
              <a:spcAft>
                <a:spcPts val="0"/>
              </a:spcAft>
              <a:buSzPts val="1800"/>
              <a:buNone/>
            </a:pPr>
            <a:r>
              <a:rPr lang="pt-BR" dirty="0" smtClean="0"/>
              <a:t>B. Processo: </a:t>
            </a:r>
          </a:p>
          <a:p>
            <a:pPr marL="457200" lvl="0" indent="0" algn="l" rtl="0">
              <a:spcBef>
                <a:spcPts val="1600"/>
              </a:spcBef>
              <a:spcAft>
                <a:spcPts val="0"/>
              </a:spcAft>
              <a:buNone/>
            </a:pPr>
            <a:endParaRPr lang="pt-BR" dirty="0"/>
          </a:p>
          <a:p>
            <a:pPr marL="457200" lvl="0" indent="0" algn="l" rtl="0">
              <a:spcBef>
                <a:spcPts val="1600"/>
              </a:spcBef>
              <a:spcAft>
                <a:spcPts val="0"/>
              </a:spcAft>
              <a:buNone/>
            </a:pPr>
            <a:endParaRPr dirty="0"/>
          </a:p>
          <a:p>
            <a:pPr marL="114300" indent="0">
              <a:buNone/>
            </a:pPr>
            <a:r>
              <a:rPr lang="pt-BR" dirty="0" smtClean="0"/>
              <a:t>C. Granularidade</a:t>
            </a:r>
            <a:r>
              <a:rPr lang="pt-BR" dirty="0"/>
              <a:t>:</a:t>
            </a:r>
          </a:p>
          <a:p>
            <a:pPr marL="114300" indent="0">
              <a:buFont typeface="Arial"/>
              <a:buNone/>
            </a:pPr>
            <a:r>
              <a:rPr lang="pt-BR" dirty="0"/>
              <a:t>A granularidade da tabela fato é o Item do Pedido. Isso significa que cada linha na tabela </a:t>
            </a:r>
            <a:r>
              <a:rPr lang="pt-BR" dirty="0" err="1"/>
              <a:t>Fato_Vendas</a:t>
            </a:r>
            <a:r>
              <a:rPr lang="pt-BR" dirty="0"/>
              <a:t> representa um único produto vendido. Se um pedido tiver 3 produtos, haverá 3 linhas na tabela fato.</a:t>
            </a:r>
            <a:endParaRPr dirty="0"/>
          </a:p>
          <a:p>
            <a:pPr marL="457200" lvl="0" indent="0" algn="l" rtl="0">
              <a:spcBef>
                <a:spcPts val="1600"/>
              </a:spcBef>
              <a:spcAft>
                <a:spcPts val="0"/>
              </a:spcAft>
              <a:buNone/>
            </a:pPr>
            <a:endParaRPr dirty="0"/>
          </a:p>
          <a:p>
            <a:pPr marL="0" lvl="0" indent="0" algn="l" rtl="0">
              <a:spcBef>
                <a:spcPts val="1600"/>
              </a:spcBef>
              <a:spcAft>
                <a:spcPts val="1600"/>
              </a:spcAft>
              <a:buNone/>
            </a:pPr>
            <a:endParaRPr dirty="0"/>
          </a:p>
        </p:txBody>
      </p:sp>
      <p:sp>
        <p:nvSpPr>
          <p:cNvPr id="3" name="Rectangle 2"/>
          <p:cNvSpPr>
            <a:spLocks noChangeArrowheads="1"/>
          </p:cNvSpPr>
          <p:nvPr/>
        </p:nvSpPr>
        <p:spPr bwMode="auto">
          <a:xfrm>
            <a:off x="387329" y="2267669"/>
            <a:ext cx="6766094" cy="1324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defTabSz="914400" eaLnBrk="0" fontAlgn="base" latinLnBrk="0" hangingPunct="0">
              <a:lnSpc>
                <a:spcPct val="115000"/>
              </a:lnSpc>
              <a:buClr>
                <a:schemeClr val="dk2"/>
              </a:buClr>
              <a:buSzPts val="1800"/>
              <a:buFont typeface="Arial"/>
              <a:buNone/>
              <a:tabLst/>
            </a:pPr>
            <a:r>
              <a:rPr lang="pt-BR" altLang="pt-BR" sz="1800" dirty="0">
                <a:solidFill>
                  <a:schemeClr val="dk2"/>
                </a:solidFill>
              </a:rPr>
              <a:t>O processo de negócio modelado é a Venda de Itens. O Data Mart captura o evento da transação confirmada, registrando cada item vendido dentro de um pedido na plataforma </a:t>
            </a:r>
            <a:r>
              <a:rPr lang="pt-BR" altLang="pt-BR" sz="1800" dirty="0" err="1">
                <a:solidFill>
                  <a:schemeClr val="dk2"/>
                </a:solidFill>
              </a:rPr>
              <a:t>Olist</a:t>
            </a:r>
            <a:r>
              <a:rPr lang="pt-BR" altLang="pt-BR" sz="1800" dirty="0">
                <a:solidFill>
                  <a:schemeClr val="dk2"/>
                </a:solidFill>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0"/>
            </a:pPr>
            <a:r>
              <a:rPr lang="pt-BR"/>
              <a:t>Modelo Dimensional</a:t>
            </a:r>
            <a:endParaRPr/>
          </a:p>
        </p:txBody>
      </p:sp>
      <p:sp>
        <p:nvSpPr>
          <p:cNvPr id="139" name="Google Shape;139;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lphaUcPeriod" startAt="4"/>
            </a:pPr>
            <a:r>
              <a:rPr lang="pt-BR" dirty="0"/>
              <a:t>Atributos e Hierarquia das </a:t>
            </a:r>
            <a:r>
              <a:rPr lang="pt-BR" dirty="0" smtClean="0"/>
              <a:t>Dimensões: </a:t>
            </a:r>
          </a:p>
          <a:p>
            <a:pPr marL="114300" lvl="0" indent="0" algn="l" rtl="0">
              <a:spcBef>
                <a:spcPts val="0"/>
              </a:spcBef>
              <a:spcAft>
                <a:spcPts val="0"/>
              </a:spcAft>
              <a:buSzPts val="1800"/>
              <a:buNone/>
            </a:pPr>
            <a:endParaRPr dirty="0"/>
          </a:p>
          <a:p>
            <a:pPr marL="457200" lvl="0" indent="0" algn="l" rtl="0">
              <a:spcBef>
                <a:spcPts val="1600"/>
              </a:spcBef>
              <a:spcAft>
                <a:spcPts val="0"/>
              </a:spcAft>
              <a:buNone/>
            </a:pPr>
            <a:endParaRPr dirty="0"/>
          </a:p>
          <a:p>
            <a:pPr marL="0" lvl="0" indent="0" algn="l" rtl="0">
              <a:spcBef>
                <a:spcPts val="1600"/>
              </a:spcBef>
              <a:spcAft>
                <a:spcPts val="1600"/>
              </a:spcAft>
              <a:buNone/>
            </a:pPr>
            <a:endParaRPr dirty="0"/>
          </a:p>
        </p:txBody>
      </p:sp>
      <p:sp>
        <p:nvSpPr>
          <p:cNvPr id="5" name="Rectangle 4"/>
          <p:cNvSpPr>
            <a:spLocks noChangeArrowheads="1"/>
          </p:cNvSpPr>
          <p:nvPr/>
        </p:nvSpPr>
        <p:spPr bwMode="auto">
          <a:xfrm>
            <a:off x="414996" y="1514351"/>
            <a:ext cx="6612727"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800" dirty="0" smtClean="0">
                <a:solidFill>
                  <a:schemeClr val="dk2"/>
                </a:solidFill>
              </a:rPr>
              <a:t> Dimensão </a:t>
            </a:r>
            <a:r>
              <a:rPr lang="pt-BR" altLang="pt-BR" sz="1800" dirty="0">
                <a:solidFill>
                  <a:schemeClr val="dk2"/>
                </a:solidFill>
              </a:rPr>
              <a:t>Tempo: Possui hierarquia natural de calendário: Data </a:t>
            </a:r>
            <a:r>
              <a:rPr lang="pt-BR" altLang="pt-BR" sz="1800" dirty="0" smtClean="0">
                <a:solidFill>
                  <a:schemeClr val="dk2"/>
                </a:solidFill>
              </a:rPr>
              <a:t>&gt; Mês &gt; </a:t>
            </a:r>
            <a:r>
              <a:rPr lang="pt-BR" altLang="pt-BR" sz="1800" dirty="0">
                <a:solidFill>
                  <a:schemeClr val="dk2"/>
                </a:solidFill>
              </a:rPr>
              <a:t>Trimestre &gt;</a:t>
            </a:r>
            <a:r>
              <a:rPr lang="pt-BR" altLang="pt-BR" sz="1800" dirty="0" smtClean="0">
                <a:solidFill>
                  <a:schemeClr val="dk2"/>
                </a:solidFill>
              </a:rPr>
              <a:t> </a:t>
            </a:r>
            <a:r>
              <a:rPr lang="pt-BR" altLang="pt-BR" sz="1800" dirty="0">
                <a:solidFill>
                  <a:schemeClr val="dk2"/>
                </a:solidFill>
              </a:rPr>
              <a:t>Ano</a:t>
            </a:r>
            <a:r>
              <a:rPr lang="pt-BR" altLang="pt-BR" sz="1800" dirty="0" smtClean="0">
                <a:solidFill>
                  <a:schemeClr val="dk2"/>
                </a:solidFill>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pt-BR" altLang="pt-BR" sz="1800" dirty="0">
              <a:solidFill>
                <a:schemeClr val="dk2"/>
              </a:solidFill>
            </a:endParaRP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800" dirty="0" smtClean="0">
                <a:solidFill>
                  <a:schemeClr val="dk2"/>
                </a:solidFill>
              </a:rPr>
              <a:t> Dimensão </a:t>
            </a:r>
            <a:r>
              <a:rPr lang="pt-BR" altLang="pt-BR" sz="1800" dirty="0">
                <a:solidFill>
                  <a:schemeClr val="dk2"/>
                </a:solidFill>
              </a:rPr>
              <a:t>Cliente: Possui hierarquia geográfica: Cliente Individual &gt;</a:t>
            </a:r>
            <a:r>
              <a:rPr lang="pt-BR" altLang="pt-BR" sz="1800" dirty="0" smtClean="0">
                <a:solidFill>
                  <a:schemeClr val="dk2"/>
                </a:solidFill>
              </a:rPr>
              <a:t> </a:t>
            </a:r>
            <a:r>
              <a:rPr lang="pt-BR" altLang="pt-BR" sz="1800" dirty="0">
                <a:solidFill>
                  <a:schemeClr val="dk2"/>
                </a:solidFill>
              </a:rPr>
              <a:t>Cidade &gt;</a:t>
            </a:r>
            <a:r>
              <a:rPr lang="pt-BR" altLang="pt-BR" sz="1800" dirty="0" smtClean="0">
                <a:solidFill>
                  <a:schemeClr val="dk2"/>
                </a:solidFill>
              </a:rPr>
              <a:t> </a:t>
            </a:r>
            <a:r>
              <a:rPr lang="pt-BR" altLang="pt-BR" sz="1800" dirty="0">
                <a:solidFill>
                  <a:schemeClr val="dk2"/>
                </a:solidFill>
              </a:rPr>
              <a:t>Estado (UF</a:t>
            </a:r>
            <a:r>
              <a:rPr lang="pt-BR" altLang="pt-BR" sz="1800" dirty="0" smtClean="0">
                <a:solidFill>
                  <a:schemeClr val="dk2"/>
                </a:solidFill>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pt-BR" altLang="pt-BR" sz="1800" dirty="0">
              <a:solidFill>
                <a:schemeClr val="dk2"/>
              </a:solidFill>
            </a:endParaRP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800" dirty="0" smtClean="0">
                <a:solidFill>
                  <a:schemeClr val="dk2"/>
                </a:solidFill>
              </a:rPr>
              <a:t> Dimensão </a:t>
            </a:r>
            <a:r>
              <a:rPr lang="pt-BR" altLang="pt-BR" sz="1800" dirty="0">
                <a:solidFill>
                  <a:schemeClr val="dk2"/>
                </a:solidFill>
              </a:rPr>
              <a:t>Produto: Possui hierarquia de catalogação: Produto (SKU) </a:t>
            </a:r>
            <a:r>
              <a:rPr lang="pt-BR" altLang="pt-BR" sz="1800" dirty="0" smtClean="0">
                <a:solidFill>
                  <a:schemeClr val="dk2"/>
                </a:solidFill>
              </a:rPr>
              <a:t>&gt; Categoria</a:t>
            </a:r>
            <a:r>
              <a:rPr lang="pt-BR" altLang="pt-BR" sz="1800" dirty="0">
                <a:solidFill>
                  <a:schemeClr val="dk2"/>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0"/>
            </a:pPr>
            <a:r>
              <a:rPr lang="pt-BR"/>
              <a:t>Modelo Dimensional</a:t>
            </a:r>
            <a:endParaRPr/>
          </a:p>
        </p:txBody>
      </p:sp>
      <p:sp>
        <p:nvSpPr>
          <p:cNvPr id="145" name="Google Shape;145;p28"/>
          <p:cNvSpPr txBox="1">
            <a:spLocks noGrp="1"/>
          </p:cNvSpPr>
          <p:nvPr>
            <p:ph type="body" idx="1"/>
          </p:nvPr>
        </p:nvSpPr>
        <p:spPr>
          <a:xfrm>
            <a:off x="311700" y="1017725"/>
            <a:ext cx="8520600" cy="355115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lphaUcPeriod" startAt="5"/>
            </a:pPr>
            <a:r>
              <a:rPr lang="pt-BR" dirty="0"/>
              <a:t>Métricas da </a:t>
            </a:r>
            <a:r>
              <a:rPr lang="pt-BR" dirty="0" smtClean="0"/>
              <a:t>Fato:</a:t>
            </a: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sp>
        <p:nvSpPr>
          <p:cNvPr id="2" name="Rectangle 1"/>
          <p:cNvSpPr>
            <a:spLocks noChangeArrowheads="1"/>
          </p:cNvSpPr>
          <p:nvPr/>
        </p:nvSpPr>
        <p:spPr bwMode="auto">
          <a:xfrm>
            <a:off x="435781" y="1499646"/>
            <a:ext cx="669378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800" dirty="0" smtClean="0">
                <a:solidFill>
                  <a:schemeClr val="dk2"/>
                </a:solidFill>
              </a:rPr>
              <a:t> </a:t>
            </a:r>
            <a:r>
              <a:rPr lang="pt-BR" altLang="pt-BR" sz="1800" dirty="0" err="1" smtClean="0">
                <a:solidFill>
                  <a:schemeClr val="dk2"/>
                </a:solidFill>
              </a:rPr>
              <a:t>valor_venda</a:t>
            </a:r>
            <a:r>
              <a:rPr lang="pt-BR" altLang="pt-BR" sz="1800" dirty="0" smtClean="0">
                <a:solidFill>
                  <a:schemeClr val="dk2"/>
                </a:solidFill>
              </a:rPr>
              <a:t> </a:t>
            </a:r>
            <a:r>
              <a:rPr lang="pt-BR" altLang="pt-BR" sz="1800" dirty="0">
                <a:solidFill>
                  <a:schemeClr val="dk2"/>
                </a:solidFill>
              </a:rPr>
              <a:t>(Faturamento): Tipo Aditiva. (Pode ser somada ao longo de todas as dimensões: tempo, cliente e produto).</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800" dirty="0" smtClean="0">
                <a:solidFill>
                  <a:schemeClr val="dk2"/>
                </a:solidFill>
              </a:rPr>
              <a:t> </a:t>
            </a:r>
            <a:r>
              <a:rPr lang="pt-BR" altLang="pt-BR" sz="1800" dirty="0" err="1" smtClean="0">
                <a:solidFill>
                  <a:schemeClr val="dk2"/>
                </a:solidFill>
              </a:rPr>
              <a:t>valor_frete</a:t>
            </a:r>
            <a:r>
              <a:rPr lang="pt-BR" altLang="pt-BR" sz="1800" dirty="0">
                <a:solidFill>
                  <a:schemeClr val="dk2"/>
                </a:solidFill>
              </a:rPr>
              <a:t>: Tipo Aditiva. (Pode ser somada para análises de custo logístico).</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800" dirty="0" smtClean="0">
                <a:solidFill>
                  <a:schemeClr val="dk2"/>
                </a:solidFill>
              </a:rPr>
              <a:t> quantidade</a:t>
            </a:r>
            <a:r>
              <a:rPr lang="pt-BR" altLang="pt-BR" sz="1800" dirty="0">
                <a:solidFill>
                  <a:schemeClr val="dk2"/>
                </a:solidFill>
              </a:rPr>
              <a:t>: Tipo Aditiva. (Utilizada para contagem de volume de vendas).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0"/>
            </a:pPr>
            <a:r>
              <a:rPr lang="pt-BR"/>
              <a:t>Modelo Dimensional</a:t>
            </a:r>
            <a:endParaRPr/>
          </a:p>
        </p:txBody>
      </p:sp>
      <p:sp>
        <p:nvSpPr>
          <p:cNvPr id="151" name="Google Shape;151;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lphaUcPeriod" startAt="6"/>
            </a:pPr>
            <a:r>
              <a:rPr lang="pt-BR" dirty="0"/>
              <a:t>Esquema </a:t>
            </a:r>
            <a:r>
              <a:rPr lang="pt-BR" dirty="0" smtClean="0"/>
              <a:t>Estrela</a:t>
            </a:r>
          </a:p>
          <a:p>
            <a:pPr marL="457200" lvl="0" indent="-342900" algn="l" rtl="0">
              <a:spcBef>
                <a:spcPts val="0"/>
              </a:spcBef>
              <a:spcAft>
                <a:spcPts val="0"/>
              </a:spcAft>
              <a:buSzPts val="1800"/>
              <a:buAutoNum type="alphaUcPeriod" startAt="6"/>
            </a:pPr>
            <a:endParaRPr dirty="0"/>
          </a:p>
          <a:p>
            <a:pPr marL="457200" lvl="0" indent="0" algn="l" rtl="0">
              <a:spcBef>
                <a:spcPts val="1600"/>
              </a:spcBef>
              <a:spcAft>
                <a:spcPts val="0"/>
              </a:spcAft>
              <a:buNone/>
            </a:pPr>
            <a:endParaRPr dirty="0"/>
          </a:p>
          <a:p>
            <a:pPr marL="0" lvl="0" indent="0" algn="l" rtl="0">
              <a:spcBef>
                <a:spcPts val="1600"/>
              </a:spcBef>
              <a:spcAft>
                <a:spcPts val="1600"/>
              </a:spcAft>
              <a:buNone/>
            </a:pPr>
            <a:endParaRPr dirty="0"/>
          </a:p>
        </p:txBody>
      </p:sp>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3826" y="1152475"/>
            <a:ext cx="4930066" cy="3809596"/>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0"/>
            </a:pPr>
            <a:r>
              <a:rPr lang="pt-BR"/>
              <a:t>Modelo Dimensional</a:t>
            </a:r>
            <a:endParaRPr/>
          </a:p>
        </p:txBody>
      </p:sp>
      <p:sp>
        <p:nvSpPr>
          <p:cNvPr id="157" name="Google Shape;157;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lphaUcPeriod" startAt="7"/>
            </a:pPr>
            <a:r>
              <a:rPr lang="pt-BR" dirty="0"/>
              <a:t>Simulação de inserção de 10 “fatos</a:t>
            </a:r>
            <a:r>
              <a:rPr lang="pt-BR" dirty="0" smtClean="0"/>
              <a:t>”</a:t>
            </a:r>
          </a:p>
          <a:p>
            <a:pPr marL="114300" lvl="0" indent="0">
              <a:buNone/>
            </a:pPr>
            <a:r>
              <a:rPr lang="pt-BR" sz="1400" dirty="0"/>
              <a:t>INSERT INTO </a:t>
            </a:r>
            <a:r>
              <a:rPr lang="pt-BR" sz="1400" dirty="0" err="1"/>
              <a:t>fato_vendas</a:t>
            </a:r>
            <a:r>
              <a:rPr lang="pt-BR" sz="1400" dirty="0"/>
              <a:t> (</a:t>
            </a:r>
            <a:r>
              <a:rPr lang="pt-BR" sz="1400" dirty="0" err="1"/>
              <a:t>sk_cliente</a:t>
            </a:r>
            <a:r>
              <a:rPr lang="pt-BR" sz="1400" dirty="0"/>
              <a:t>, </a:t>
            </a:r>
            <a:r>
              <a:rPr lang="pt-BR" sz="1400" dirty="0" err="1"/>
              <a:t>sk_produto</a:t>
            </a:r>
            <a:r>
              <a:rPr lang="pt-BR" sz="1400" dirty="0"/>
              <a:t>, </a:t>
            </a:r>
            <a:r>
              <a:rPr lang="pt-BR" sz="1400" dirty="0" err="1"/>
              <a:t>sk_tempo</a:t>
            </a:r>
            <a:r>
              <a:rPr lang="pt-BR" sz="1400" dirty="0"/>
              <a:t>, </a:t>
            </a:r>
            <a:r>
              <a:rPr lang="pt-BR" sz="1400" dirty="0" err="1"/>
              <a:t>valor_venda</a:t>
            </a:r>
            <a:r>
              <a:rPr lang="pt-BR" sz="1400" dirty="0"/>
              <a:t>, </a:t>
            </a:r>
            <a:r>
              <a:rPr lang="pt-BR" sz="1400" dirty="0" err="1"/>
              <a:t>valor_frete</a:t>
            </a:r>
            <a:r>
              <a:rPr lang="pt-BR" sz="1400" dirty="0"/>
              <a:t>)</a:t>
            </a:r>
          </a:p>
          <a:p>
            <a:pPr marL="114300" lvl="0" indent="0">
              <a:buNone/>
            </a:pPr>
            <a:r>
              <a:rPr lang="pt-BR" sz="1400" dirty="0"/>
              <a:t>VALUES</a:t>
            </a:r>
          </a:p>
          <a:p>
            <a:pPr marL="114300" lvl="0" indent="0">
              <a:buNone/>
            </a:pPr>
            <a:r>
              <a:rPr lang="pt-BR" sz="1400" dirty="0"/>
              <a:t>    (1024, 501, 20170515, 21.90, 12.69),</a:t>
            </a:r>
          </a:p>
          <a:p>
            <a:pPr marL="114300" lvl="0" indent="0">
              <a:buNone/>
            </a:pPr>
            <a:r>
              <a:rPr lang="pt-BR" sz="1400" dirty="0"/>
              <a:t>    (3055, 122, 20180114, 199.00, 17.87),</a:t>
            </a:r>
          </a:p>
          <a:p>
            <a:pPr marL="114300" lvl="0" indent="0">
              <a:buNone/>
            </a:pPr>
            <a:r>
              <a:rPr lang="pt-BR" sz="1400" dirty="0"/>
              <a:t>    (8901, 334, 20170812, 99.00, 13.71),</a:t>
            </a:r>
          </a:p>
          <a:p>
            <a:pPr marL="114300" lvl="0" indent="0">
              <a:buNone/>
            </a:pPr>
            <a:r>
              <a:rPr lang="pt-BR" sz="1400" dirty="0"/>
              <a:t>    (120,  88,  20180502, 639.00, 11.34),</a:t>
            </a:r>
          </a:p>
          <a:p>
            <a:pPr marL="114300" lvl="0" indent="0">
              <a:buNone/>
            </a:pPr>
            <a:r>
              <a:rPr lang="pt-BR" sz="1400" dirty="0"/>
              <a:t>    (4500, 992, 20171210, 19.90, 11.85),</a:t>
            </a:r>
          </a:p>
          <a:p>
            <a:pPr marL="114300" lvl="0" indent="0">
              <a:buNone/>
            </a:pPr>
            <a:r>
              <a:rPr lang="pt-BR" sz="1400" dirty="0"/>
              <a:t>    (671,  105, 20180704, 810.00, 70.75),</a:t>
            </a:r>
          </a:p>
          <a:p>
            <a:pPr marL="114300" lvl="0" indent="0">
              <a:buNone/>
            </a:pPr>
            <a:r>
              <a:rPr lang="pt-BR" sz="1400" dirty="0"/>
              <a:t>    (2230, 441, 20170913, 58.90, 13.29),</a:t>
            </a:r>
          </a:p>
          <a:p>
            <a:pPr marL="114300" lvl="0" indent="0">
              <a:buNone/>
            </a:pPr>
            <a:r>
              <a:rPr lang="pt-BR" sz="1400" dirty="0"/>
              <a:t>    (112,  67,  20180221, 49.90, 13.37),</a:t>
            </a:r>
          </a:p>
          <a:p>
            <a:pPr marL="114300" lvl="0" indent="0">
              <a:buNone/>
            </a:pPr>
            <a:r>
              <a:rPr lang="pt-BR" sz="1400" dirty="0"/>
              <a:t>    (9901, 202, 20180614, 27.90, 7.94),</a:t>
            </a:r>
          </a:p>
          <a:p>
            <a:pPr marL="114300" lvl="0" indent="0">
              <a:buNone/>
            </a:pPr>
            <a:r>
              <a:rPr lang="pt-BR" sz="1400" dirty="0"/>
              <a:t>    (554,  890, 20171127, 21.99, 11.85);</a:t>
            </a:r>
            <a:endParaRPr sz="1400" dirty="0"/>
          </a:p>
          <a:p>
            <a:pPr marL="457200" lvl="0" indent="0" algn="l" rtl="0">
              <a:spcBef>
                <a:spcPts val="1600"/>
              </a:spcBef>
              <a:spcAft>
                <a:spcPts val="0"/>
              </a:spcAft>
              <a:buNone/>
            </a:pPr>
            <a:endParaRPr dirty="0"/>
          </a:p>
          <a:p>
            <a:pPr marL="0" lvl="0" indent="0" algn="l" rtl="0">
              <a:spcBef>
                <a:spcPts val="1600"/>
              </a:spcBef>
              <a:spcAft>
                <a:spcPts val="1600"/>
              </a:spcAft>
              <a:buNone/>
            </a:pPr>
            <a:endParaRP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0"/>
            </a:pPr>
            <a:r>
              <a:rPr lang="pt-BR"/>
              <a:t>Modelo Dimensional do Data Mart (lógico)</a:t>
            </a:r>
            <a:endParaRPr/>
          </a:p>
        </p:txBody>
      </p:sp>
      <p:sp>
        <p:nvSpPr>
          <p:cNvPr id="163" name="Google Shape;163;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lphaUcPeriod" startAt="8"/>
            </a:pPr>
            <a:r>
              <a:rPr lang="pt-BR" dirty="0"/>
              <a:t>Estimativa de </a:t>
            </a:r>
            <a:r>
              <a:rPr lang="pt-BR" dirty="0" smtClean="0"/>
              <a:t>espaço</a:t>
            </a:r>
          </a:p>
          <a:p>
            <a:r>
              <a:rPr lang="pt-BR" sz="1600" dirty="0"/>
              <a:t>O Data Mart possui porte pequeno.</a:t>
            </a:r>
          </a:p>
          <a:p>
            <a:r>
              <a:rPr lang="pt-BR" sz="1600" b="1" dirty="0"/>
              <a:t>Tabela Fato:</a:t>
            </a:r>
            <a:r>
              <a:rPr lang="pt-BR" sz="1600" dirty="0"/>
              <a:t> ~113.000 registros.</a:t>
            </a:r>
          </a:p>
          <a:p>
            <a:r>
              <a:rPr lang="pt-BR" sz="1600" b="1" dirty="0"/>
              <a:t>Dimensões:</a:t>
            </a:r>
            <a:r>
              <a:rPr lang="pt-BR" sz="1600" dirty="0"/>
              <a:t> Variam de ~3.000 (Tempo) a ~96.000 (Clientes).</a:t>
            </a:r>
          </a:p>
          <a:p>
            <a:r>
              <a:rPr lang="pt-BR" sz="1600" b="1" dirty="0"/>
              <a:t>Espaço em Disco:</a:t>
            </a:r>
            <a:r>
              <a:rPr lang="pt-BR" sz="1600" dirty="0"/>
              <a:t> Estima-se menos de </a:t>
            </a:r>
            <a:r>
              <a:rPr lang="pt-BR" sz="1600" b="1" dirty="0"/>
              <a:t>100 MB</a:t>
            </a:r>
            <a:r>
              <a:rPr lang="pt-BR" sz="1600" dirty="0"/>
              <a:t> no </a:t>
            </a:r>
            <a:r>
              <a:rPr lang="pt-BR" sz="1600" dirty="0" err="1"/>
              <a:t>PostgreSQL</a:t>
            </a:r>
            <a:r>
              <a:rPr lang="pt-BR" sz="1600" dirty="0"/>
              <a:t>, garantindo alta performance de consulta sem necessidade de </a:t>
            </a:r>
            <a:r>
              <a:rPr lang="pt-BR" sz="1600" dirty="0" err="1"/>
              <a:t>particionamento</a:t>
            </a:r>
            <a:r>
              <a:rPr lang="pt-BR" sz="1600" dirty="0"/>
              <a:t> complexo neste momento.</a:t>
            </a:r>
          </a:p>
          <a:p>
            <a:pPr marL="114300" lvl="0" indent="0" algn="l" rtl="0">
              <a:spcBef>
                <a:spcPts val="0"/>
              </a:spcBef>
              <a:spcAft>
                <a:spcPts val="0"/>
              </a:spcAft>
              <a:buSzPts val="1800"/>
              <a:buNone/>
            </a:pPr>
            <a:endParaRPr dirty="0"/>
          </a:p>
          <a:p>
            <a:pPr marL="0" lvl="0" indent="0" algn="l" rtl="0">
              <a:spcBef>
                <a:spcPts val="1600"/>
              </a:spcBef>
              <a:spcAft>
                <a:spcPts val="1600"/>
              </a:spcAft>
              <a:buNone/>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167"/>
        <p:cNvGrpSpPr/>
        <p:nvPr/>
      </p:nvGrpSpPr>
      <p:grpSpPr>
        <a:xfrm>
          <a:off x="0" y="0"/>
          <a:ext cx="0" cy="0"/>
          <a:chOff x="0" y="0"/>
          <a:chExt cx="0" cy="0"/>
        </a:xfrm>
      </p:grpSpPr>
      <p:sp>
        <p:nvSpPr>
          <p:cNvPr id="168" name="Google Shape;168;p3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pt-BR"/>
              <a:t>ETAPA 4 - PROJETO FÍSICO DO BD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1"/>
            </a:pPr>
            <a:r>
              <a:rPr lang="pt-BR" dirty="0"/>
              <a:t>Modelo Relacional do Data Mart (físico)</a:t>
            </a:r>
            <a:endParaRPr dirty="0"/>
          </a:p>
        </p:txBody>
      </p:sp>
      <p:sp>
        <p:nvSpPr>
          <p:cNvPr id="2" name="Rectangle 1"/>
          <p:cNvSpPr>
            <a:spLocks noGrp="1" noChangeArrowheads="1"/>
          </p:cNvSpPr>
          <p:nvPr>
            <p:ph type="body" idx="1"/>
          </p:nvPr>
        </p:nvSpPr>
        <p:spPr bwMode="auto">
          <a:xfrm>
            <a:off x="311700" y="1074396"/>
            <a:ext cx="7315397"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defTabSz="914400" rtl="0" eaLnBrk="0" fontAlgn="base" latinLnBrk="0" hangingPunct="0">
              <a:lnSpc>
                <a:spcPct val="100000"/>
              </a:lnSpc>
              <a:spcBef>
                <a:spcPct val="0"/>
              </a:spcBef>
              <a:spcAft>
                <a:spcPct val="0"/>
              </a:spcAft>
              <a:buClrTx/>
              <a:buSzTx/>
              <a:buFontTx/>
              <a:buAutoNum type="arabicPeriod"/>
              <a:tabLst/>
            </a:pPr>
            <a:r>
              <a:rPr kumimoji="0" lang="pt-BR" altLang="pt-BR" sz="1600" b="0" i="0" u="none" strike="noStrike" cap="none" normalizeH="0" baseline="0" dirty="0" smtClean="0">
                <a:ln>
                  <a:noFill/>
                </a:ln>
                <a:solidFill>
                  <a:schemeClr val="tx1"/>
                </a:solidFill>
                <a:effectLst/>
                <a:latin typeface="Arial" panose="020B0604020202020204" pitchFamily="34" charset="0"/>
              </a:rPr>
              <a:t>Tabela Dimensão Cliente (</a:t>
            </a:r>
            <a:r>
              <a:rPr kumimoji="0" lang="pt-BR" altLang="pt-BR" sz="1600" b="0" i="0" u="none" strike="noStrike" cap="none" normalizeH="0" baseline="0" dirty="0" err="1" smtClean="0">
                <a:ln>
                  <a:noFill/>
                </a:ln>
                <a:solidFill>
                  <a:schemeClr val="tx1"/>
                </a:solidFill>
                <a:effectLst/>
                <a:latin typeface="Arial Unicode MS"/>
              </a:rPr>
              <a:t>dim_cliente</a:t>
            </a:r>
            <a:r>
              <a:rPr kumimoji="0" lang="pt-BR" altLang="pt-BR" sz="1600" b="0" i="0" u="none" strike="noStrike" cap="none" normalizeH="0" baseline="0" dirty="0" smtClean="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buNone/>
              <a:tabLst/>
            </a:pPr>
            <a:endParaRPr kumimoji="0" lang="pt-BR" altLang="pt-BR" sz="1600" b="0"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ClrTx/>
              <a:buSzTx/>
              <a:buNone/>
            </a:pPr>
            <a:r>
              <a:rPr lang="pt-BR" altLang="pt-BR" sz="1200" dirty="0" smtClean="0">
                <a:solidFill>
                  <a:schemeClr val="tx1"/>
                </a:solidFill>
              </a:rPr>
              <a:t>CREATE </a:t>
            </a:r>
            <a:r>
              <a:rPr lang="pt-BR" altLang="pt-BR" sz="1200" dirty="0">
                <a:solidFill>
                  <a:schemeClr val="tx1"/>
                </a:solidFill>
              </a:rPr>
              <a:t>TABLE </a:t>
            </a:r>
            <a:r>
              <a:rPr lang="pt-BR" altLang="pt-BR" sz="1200" dirty="0" err="1">
                <a:solidFill>
                  <a:schemeClr val="tx1"/>
                </a:solidFill>
              </a:rPr>
              <a:t>public.dim_cliente</a:t>
            </a:r>
            <a:r>
              <a:rPr lang="pt-BR" altLang="pt-BR" sz="1200" dirty="0">
                <a:solidFill>
                  <a:schemeClr val="tx1"/>
                </a:solidFill>
              </a:rPr>
              <a:t> (</a:t>
            </a: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    </a:t>
            </a:r>
            <a:r>
              <a:rPr lang="pt-BR" altLang="pt-BR" sz="1200" dirty="0" err="1">
                <a:solidFill>
                  <a:schemeClr val="tx1"/>
                </a:solidFill>
              </a:rPr>
              <a:t>sk_cliente</a:t>
            </a:r>
            <a:r>
              <a:rPr lang="pt-BR" altLang="pt-BR" sz="1200" dirty="0">
                <a:solidFill>
                  <a:schemeClr val="tx1"/>
                </a:solidFill>
              </a:rPr>
              <a:t> SERIAL PRIMARY KEY,</a:t>
            </a: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    </a:t>
            </a:r>
            <a:r>
              <a:rPr lang="pt-BR" altLang="pt-BR" sz="1200" dirty="0" err="1">
                <a:solidFill>
                  <a:schemeClr val="tx1"/>
                </a:solidFill>
              </a:rPr>
              <a:t>version</a:t>
            </a:r>
            <a:r>
              <a:rPr lang="pt-BR" altLang="pt-BR" sz="1200" dirty="0">
                <a:solidFill>
                  <a:schemeClr val="tx1"/>
                </a:solidFill>
              </a:rPr>
              <a:t> INTEGER,</a:t>
            </a: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    </a:t>
            </a:r>
            <a:r>
              <a:rPr lang="pt-BR" altLang="pt-BR" sz="1200" dirty="0" err="1">
                <a:solidFill>
                  <a:schemeClr val="tx1"/>
                </a:solidFill>
              </a:rPr>
              <a:t>date_from</a:t>
            </a:r>
            <a:r>
              <a:rPr lang="pt-BR" altLang="pt-BR" sz="1200" dirty="0">
                <a:solidFill>
                  <a:schemeClr val="tx1"/>
                </a:solidFill>
              </a:rPr>
              <a:t> TIMESTAMP,</a:t>
            </a: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    </a:t>
            </a:r>
            <a:r>
              <a:rPr lang="pt-BR" altLang="pt-BR" sz="1200" dirty="0" err="1">
                <a:solidFill>
                  <a:schemeClr val="tx1"/>
                </a:solidFill>
              </a:rPr>
              <a:t>date_to</a:t>
            </a:r>
            <a:r>
              <a:rPr lang="pt-BR" altLang="pt-BR" sz="1200" dirty="0">
                <a:solidFill>
                  <a:schemeClr val="tx1"/>
                </a:solidFill>
              </a:rPr>
              <a:t> TIMESTAMP,</a:t>
            </a: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    </a:t>
            </a:r>
            <a:r>
              <a:rPr lang="pt-BR" altLang="pt-BR" sz="1200" dirty="0" err="1">
                <a:solidFill>
                  <a:schemeClr val="tx1"/>
                </a:solidFill>
              </a:rPr>
              <a:t>customer_unique_id</a:t>
            </a:r>
            <a:r>
              <a:rPr lang="pt-BR" altLang="pt-BR" sz="1200" dirty="0">
                <a:solidFill>
                  <a:schemeClr val="tx1"/>
                </a:solidFill>
              </a:rPr>
              <a:t> VARCHAR(32),</a:t>
            </a: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    cidade VARCHAR(255),</a:t>
            </a: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    estado VARCHAR(2)</a:t>
            </a: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a:t>
            </a:r>
          </a:p>
          <a:p>
            <a:pPr marL="457200" lvl="1" indent="0" eaLnBrk="0" fontAlgn="base" hangingPunct="0">
              <a:lnSpc>
                <a:spcPct val="100000"/>
              </a:lnSpc>
              <a:spcBef>
                <a:spcPct val="0"/>
              </a:spcBef>
              <a:spcAft>
                <a:spcPct val="0"/>
              </a:spcAft>
              <a:buClrTx/>
              <a:buSzTx/>
              <a:buNone/>
            </a:pPr>
            <a:endParaRPr lang="pt-BR" altLang="pt-BR" sz="1200" dirty="0">
              <a:solidFill>
                <a:schemeClr val="tx1"/>
              </a:solidFill>
            </a:endParaRPr>
          </a:p>
          <a:p>
            <a:pPr marL="457200" lvl="1" indent="0" eaLnBrk="0" fontAlgn="base" hangingPunct="0">
              <a:lnSpc>
                <a:spcPct val="100000"/>
              </a:lnSpc>
              <a:spcBef>
                <a:spcPct val="0"/>
              </a:spcBef>
              <a:spcAft>
                <a:spcPct val="0"/>
              </a:spcAft>
              <a:buClrTx/>
              <a:buSzTx/>
              <a:buNone/>
            </a:pPr>
            <a:r>
              <a:rPr lang="pt-BR" altLang="pt-BR" sz="1200" dirty="0">
                <a:solidFill>
                  <a:schemeClr val="tx1"/>
                </a:solidFill>
              </a:rPr>
              <a:t>CREATE INDEX </a:t>
            </a:r>
            <a:r>
              <a:rPr lang="pt-BR" altLang="pt-BR" sz="1200" dirty="0" err="1">
                <a:solidFill>
                  <a:schemeClr val="tx1"/>
                </a:solidFill>
              </a:rPr>
              <a:t>idx_dim_cliente_lookup</a:t>
            </a:r>
            <a:r>
              <a:rPr lang="pt-BR" altLang="pt-BR" sz="1200" dirty="0">
                <a:solidFill>
                  <a:schemeClr val="tx1"/>
                </a:solidFill>
              </a:rPr>
              <a:t> ON </a:t>
            </a:r>
            <a:r>
              <a:rPr lang="pt-BR" altLang="pt-BR" sz="1200" dirty="0" err="1">
                <a:solidFill>
                  <a:schemeClr val="tx1"/>
                </a:solidFill>
              </a:rPr>
              <a:t>public.dim_cliente</a:t>
            </a:r>
            <a:r>
              <a:rPr lang="pt-BR" altLang="pt-BR" sz="1200" dirty="0">
                <a:solidFill>
                  <a:schemeClr val="tx1"/>
                </a:solidFill>
              </a:rPr>
              <a:t>(</a:t>
            </a:r>
            <a:r>
              <a:rPr lang="pt-BR" altLang="pt-BR" sz="1200" dirty="0" err="1">
                <a:solidFill>
                  <a:schemeClr val="tx1"/>
                </a:solidFill>
              </a:rPr>
              <a:t>customer_unique_id</a:t>
            </a:r>
            <a:r>
              <a:rPr lang="pt-BR" altLang="pt-BR" sz="1200" dirty="0">
                <a:solidFill>
                  <a:schemeClr val="tx1"/>
                </a:solidFill>
              </a:rPr>
              <a:t>);</a:t>
            </a:r>
            <a:endParaRPr kumimoji="0" lang="pt-BR" altLang="pt-BR" sz="1200" b="0" i="0" u="none" strike="noStrike" cap="none" normalizeH="0" baseline="0" dirty="0" smtClean="0">
              <a:ln>
                <a:noFill/>
              </a:ln>
              <a:solidFill>
                <a:schemeClr val="tx1"/>
              </a:solidFill>
              <a:effectLst/>
            </a:endParaRPr>
          </a:p>
          <a:p>
            <a:pPr marL="342900" marR="0" lvl="0" defTabSz="914400" rtl="0" eaLnBrk="0" fontAlgn="base" latinLnBrk="0" hangingPunct="0">
              <a:lnSpc>
                <a:spcPct val="100000"/>
              </a:lnSpc>
              <a:spcBef>
                <a:spcPct val="0"/>
              </a:spcBef>
              <a:spcAft>
                <a:spcPct val="0"/>
              </a:spcAft>
              <a:buClrTx/>
              <a:buSzTx/>
              <a:buFontTx/>
              <a:buAutoNum type="arabicPeriod"/>
              <a:tabLst/>
            </a:pPr>
            <a:endParaRPr lang="pt-BR" altLang="pt-BR" sz="1600" dirty="0">
              <a:solidFill>
                <a:schemeClr val="tx1"/>
              </a:solidFill>
              <a:latin typeface="Arial" panose="020B0604020202020204" pitchFamily="34" charset="0"/>
            </a:endParaRPr>
          </a:p>
          <a:p>
            <a:pPr marL="342900" marR="0" lvl="0" defTabSz="914400" rtl="0" eaLnBrk="0" fontAlgn="base" latinLnBrk="0" hangingPunct="0">
              <a:lnSpc>
                <a:spcPct val="100000"/>
              </a:lnSpc>
              <a:spcBef>
                <a:spcPct val="0"/>
              </a:spcBef>
              <a:spcAft>
                <a:spcPct val="0"/>
              </a:spcAft>
              <a:buClrTx/>
              <a:buSzTx/>
              <a:buFontTx/>
              <a:buAutoNum type="arabicPeriod"/>
              <a:tabLst/>
            </a:pPr>
            <a:endParaRPr kumimoji="0" lang="pt-BR" altLang="pt-BR" sz="1600" b="0" i="0" u="none" strike="noStrike" cap="none" normalizeH="0" baseline="0" dirty="0" smtClean="0">
              <a:ln>
                <a:noFill/>
              </a:ln>
              <a:solidFill>
                <a:schemeClr val="tx1"/>
              </a:solidFill>
              <a:effectLst/>
              <a:latin typeface="Arial" panose="020B0604020202020204" pitchFamily="34" charset="0"/>
            </a:endParaRPr>
          </a:p>
          <a:p>
            <a:pPr marL="342900" marR="0" lvl="0" defTabSz="914400" rtl="0" eaLnBrk="0" fontAlgn="base" latinLnBrk="0" hangingPunct="0">
              <a:lnSpc>
                <a:spcPct val="100000"/>
              </a:lnSpc>
              <a:spcBef>
                <a:spcPct val="0"/>
              </a:spcBef>
              <a:spcAft>
                <a:spcPct val="0"/>
              </a:spcAft>
              <a:buClrTx/>
              <a:buSzTx/>
              <a:buFontTx/>
              <a:buAutoNum type="arabicPeriod"/>
              <a:tabLst/>
            </a:pPr>
            <a:endParaRPr lang="pt-BR" altLang="pt-BR" sz="1600" dirty="0">
              <a:solidFill>
                <a:schemeClr val="tx1"/>
              </a:solidFill>
              <a:latin typeface="Arial" panose="020B0604020202020204" pitchFamily="34" charset="0"/>
            </a:endParaRPr>
          </a:p>
          <a:p>
            <a:pPr marL="342900" marR="0" lvl="0" defTabSz="914400" rtl="0" eaLnBrk="0" fontAlgn="base" latinLnBrk="0" hangingPunct="0">
              <a:lnSpc>
                <a:spcPct val="100000"/>
              </a:lnSpc>
              <a:spcBef>
                <a:spcPct val="0"/>
              </a:spcBef>
              <a:spcAft>
                <a:spcPct val="0"/>
              </a:spcAft>
              <a:buClrTx/>
              <a:buSzTx/>
              <a:buFontTx/>
              <a:buAutoNum type="arabicPeriod"/>
              <a:tabLst/>
            </a:pPr>
            <a:endParaRPr kumimoji="0" lang="pt-BR" altLang="pt-BR" sz="1600" b="0" i="0" u="none" strike="noStrike" cap="none" normalizeH="0" baseline="0" dirty="0" smtClean="0">
              <a:ln>
                <a:noFill/>
              </a:ln>
              <a:solidFill>
                <a:schemeClr val="tx1"/>
              </a:solidFill>
              <a:effectLst/>
              <a:latin typeface="Arial" panose="020B0604020202020204" pitchFamily="34" charset="0"/>
            </a:endParaRPr>
          </a:p>
          <a:p>
            <a:pPr marL="342900" marR="0" lvl="0" defTabSz="914400" rtl="0" eaLnBrk="0" fontAlgn="base" latinLnBrk="0" hangingPunct="0">
              <a:lnSpc>
                <a:spcPct val="100000"/>
              </a:lnSpc>
              <a:spcBef>
                <a:spcPct val="0"/>
              </a:spcBef>
              <a:spcAft>
                <a:spcPct val="0"/>
              </a:spcAft>
              <a:buClrTx/>
              <a:buSzTx/>
              <a:buFontTx/>
              <a:buAutoNum type="arabicPeriod"/>
              <a:tabLst/>
            </a:pPr>
            <a:endParaRPr lang="pt-BR" altLang="pt-BR" sz="1600" dirty="0">
              <a:solidFill>
                <a:schemeClr val="tx1"/>
              </a:solidFill>
              <a:latin typeface="Arial" panose="020B0604020202020204" pitchFamily="34" charset="0"/>
            </a:endParaRPr>
          </a:p>
          <a:p>
            <a:pPr marL="342900" marR="0" lvl="0" defTabSz="914400" rtl="0" eaLnBrk="0" fontAlgn="base" latinLnBrk="0" hangingPunct="0">
              <a:lnSpc>
                <a:spcPct val="100000"/>
              </a:lnSpc>
              <a:spcBef>
                <a:spcPct val="0"/>
              </a:spcBef>
              <a:spcAft>
                <a:spcPct val="0"/>
              </a:spcAft>
              <a:buClrTx/>
              <a:buSzTx/>
              <a:buFontTx/>
              <a:buAutoNum type="arabicPeriod"/>
              <a:tabLst/>
            </a:pPr>
            <a:endParaRPr kumimoji="0" lang="pt-BR" altLang="pt-BR" sz="1600" b="0" i="0" u="none" strike="noStrike" cap="none" normalizeH="0" baseline="0" dirty="0" smtClean="0">
              <a:ln>
                <a:noFill/>
              </a:ln>
              <a:solidFill>
                <a:schemeClr val="tx1"/>
              </a:solidFill>
              <a:effectLst/>
              <a:latin typeface="Arial" panose="020B0604020202020204" pitchFamily="34" charset="0"/>
            </a:endParaRPr>
          </a:p>
          <a:p>
            <a:pPr marL="342900" marR="0" lvl="0" defTabSz="914400" rtl="0" eaLnBrk="0" fontAlgn="base" latinLnBrk="0" hangingPunct="0">
              <a:lnSpc>
                <a:spcPct val="100000"/>
              </a:lnSpc>
              <a:spcBef>
                <a:spcPct val="0"/>
              </a:spcBef>
              <a:spcAft>
                <a:spcPct val="0"/>
              </a:spcAft>
              <a:buClrTx/>
              <a:buSzTx/>
              <a:buFontTx/>
              <a:buAutoNum type="arabicPeriod"/>
              <a:tabLst/>
            </a:pPr>
            <a:endParaRPr kumimoji="0" lang="pt-BR" altLang="pt-BR" sz="16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p:txBody>
          <a:bodyPr/>
          <a:lstStyle/>
          <a:p>
            <a:pPr marL="114300" indent="0">
              <a:buNone/>
            </a:pPr>
            <a:r>
              <a:rPr lang="pt-BR" sz="1400" dirty="0"/>
              <a:t>CREATE TABLE </a:t>
            </a:r>
            <a:r>
              <a:rPr lang="pt-BR" sz="1400" dirty="0" err="1"/>
              <a:t>public.dim_produto</a:t>
            </a:r>
            <a:r>
              <a:rPr lang="pt-BR" sz="1400" dirty="0"/>
              <a:t> (</a:t>
            </a:r>
          </a:p>
          <a:p>
            <a:pPr marL="114300" indent="0">
              <a:buNone/>
            </a:pPr>
            <a:r>
              <a:rPr lang="pt-BR" sz="1400" dirty="0"/>
              <a:t>    </a:t>
            </a:r>
            <a:r>
              <a:rPr lang="pt-BR" sz="1400" dirty="0" err="1"/>
              <a:t>sk_produto</a:t>
            </a:r>
            <a:r>
              <a:rPr lang="pt-BR" sz="1400" dirty="0"/>
              <a:t> SERIAL PRIMARY KEY,</a:t>
            </a:r>
          </a:p>
          <a:p>
            <a:pPr marL="114300" indent="0">
              <a:buNone/>
            </a:pPr>
            <a:r>
              <a:rPr lang="pt-BR" sz="1400" dirty="0"/>
              <a:t>    </a:t>
            </a:r>
            <a:r>
              <a:rPr lang="pt-BR" sz="1400" dirty="0" err="1"/>
              <a:t>version</a:t>
            </a:r>
            <a:r>
              <a:rPr lang="pt-BR" sz="1400" dirty="0"/>
              <a:t> INTEGER,</a:t>
            </a:r>
          </a:p>
          <a:p>
            <a:pPr marL="114300" indent="0">
              <a:buNone/>
            </a:pPr>
            <a:r>
              <a:rPr lang="pt-BR" sz="1400" dirty="0"/>
              <a:t>    </a:t>
            </a:r>
            <a:r>
              <a:rPr lang="pt-BR" sz="1400" dirty="0" err="1"/>
              <a:t>date_from</a:t>
            </a:r>
            <a:r>
              <a:rPr lang="pt-BR" sz="1400" dirty="0"/>
              <a:t> TIMESTAMP,</a:t>
            </a:r>
          </a:p>
          <a:p>
            <a:pPr marL="114300" indent="0">
              <a:buNone/>
            </a:pPr>
            <a:r>
              <a:rPr lang="pt-BR" sz="1400" dirty="0"/>
              <a:t>    </a:t>
            </a:r>
            <a:r>
              <a:rPr lang="pt-BR" sz="1400" dirty="0" err="1"/>
              <a:t>date_to</a:t>
            </a:r>
            <a:r>
              <a:rPr lang="pt-BR" sz="1400" dirty="0"/>
              <a:t> TIMESTAMP,</a:t>
            </a:r>
          </a:p>
          <a:p>
            <a:pPr marL="114300" indent="0">
              <a:buNone/>
            </a:pPr>
            <a:r>
              <a:rPr lang="pt-BR" sz="1400" dirty="0"/>
              <a:t>    </a:t>
            </a:r>
            <a:r>
              <a:rPr lang="pt-BR" sz="1400" dirty="0" err="1"/>
              <a:t>id_produto_origem</a:t>
            </a:r>
            <a:r>
              <a:rPr lang="pt-BR" sz="1400" dirty="0"/>
              <a:t> VARCHAR(32),</a:t>
            </a:r>
          </a:p>
          <a:p>
            <a:pPr marL="114300" indent="0">
              <a:buNone/>
            </a:pPr>
            <a:r>
              <a:rPr lang="pt-BR" sz="1400" dirty="0"/>
              <a:t>    categoria VARCHAR(255),</a:t>
            </a:r>
          </a:p>
          <a:p>
            <a:pPr marL="114300" indent="0">
              <a:buNone/>
            </a:pPr>
            <a:r>
              <a:rPr lang="pt-BR" sz="1400" dirty="0"/>
              <a:t>    </a:t>
            </a:r>
            <a:r>
              <a:rPr lang="pt-BR" sz="1400" dirty="0" err="1"/>
              <a:t>peso_g</a:t>
            </a:r>
            <a:r>
              <a:rPr lang="pt-BR" sz="1400" dirty="0"/>
              <a:t> DOUBLE PRECISION</a:t>
            </a:r>
          </a:p>
          <a:p>
            <a:pPr marL="114300" indent="0">
              <a:buNone/>
            </a:pPr>
            <a:r>
              <a:rPr lang="pt-BR" sz="1400" dirty="0"/>
              <a:t>);</a:t>
            </a:r>
          </a:p>
          <a:p>
            <a:pPr marL="114300" indent="0">
              <a:buNone/>
            </a:pPr>
            <a:endParaRPr lang="pt-BR" sz="1400" dirty="0"/>
          </a:p>
          <a:p>
            <a:pPr marL="114300" indent="0">
              <a:buNone/>
            </a:pPr>
            <a:r>
              <a:rPr lang="pt-BR" sz="1400" dirty="0"/>
              <a:t>CREATE INDEX </a:t>
            </a:r>
            <a:r>
              <a:rPr lang="pt-BR" sz="1400" dirty="0" err="1"/>
              <a:t>idx_dim_produto_lookup</a:t>
            </a:r>
            <a:r>
              <a:rPr lang="pt-BR" sz="1400" dirty="0"/>
              <a:t> ON </a:t>
            </a:r>
            <a:r>
              <a:rPr lang="pt-BR" sz="1400" dirty="0" err="1"/>
              <a:t>public.dim_produto</a:t>
            </a:r>
            <a:r>
              <a:rPr lang="pt-BR" sz="1400" dirty="0"/>
              <a:t>(</a:t>
            </a:r>
            <a:r>
              <a:rPr lang="pt-BR" sz="1400" dirty="0" err="1"/>
              <a:t>id_produto_origem</a:t>
            </a:r>
            <a:r>
              <a:rPr lang="pt-BR" sz="1400" dirty="0"/>
              <a:t>);</a:t>
            </a:r>
          </a:p>
        </p:txBody>
      </p:sp>
      <p:sp>
        <p:nvSpPr>
          <p:cNvPr id="4" name="Rectangle 1"/>
          <p:cNvSpPr>
            <a:spLocks noGrp="1" noChangeArrowheads="1"/>
          </p:cNvSpPr>
          <p:nvPr>
            <p:ph type="title"/>
          </p:nvPr>
        </p:nvSpPr>
        <p:spPr bwMode="auto">
          <a:xfrm>
            <a:off x="311700" y="562098"/>
            <a:ext cx="41873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smtClean="0">
                <a:ln>
                  <a:noFill/>
                </a:ln>
                <a:solidFill>
                  <a:schemeClr val="tx1"/>
                </a:solidFill>
                <a:effectLst/>
                <a:latin typeface="Arial" panose="020B0604020202020204" pitchFamily="34" charset="0"/>
              </a:rPr>
              <a:t>2. Tabela Dimensão Produto (</a:t>
            </a:r>
            <a:r>
              <a:rPr kumimoji="0" lang="pt-BR" altLang="pt-BR" sz="1600" b="0" i="0" u="none" strike="noStrike" cap="none" normalizeH="0" baseline="0" dirty="0" err="1" smtClean="0">
                <a:ln>
                  <a:noFill/>
                </a:ln>
                <a:solidFill>
                  <a:schemeClr val="tx1"/>
                </a:solidFill>
                <a:effectLst/>
                <a:latin typeface="Arial Unicode MS"/>
              </a:rPr>
              <a:t>dim_produto</a:t>
            </a:r>
            <a:r>
              <a:rPr kumimoji="0" lang="pt-BR" altLang="pt-BR" sz="1600" b="0" i="0" u="none" strike="noStrike" cap="none" normalizeH="0" baseline="0" dirty="0" smtClean="0">
                <a:ln>
                  <a:noFill/>
                </a:ln>
                <a:solidFill>
                  <a:schemeClr val="tx1"/>
                </a:solidFill>
                <a:effectLst/>
              </a:rPr>
              <a:t>) </a:t>
            </a:r>
            <a:endParaRPr kumimoji="0" lang="pt-BR" altLang="pt-BR"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9893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11700" y="953094"/>
            <a:ext cx="8520600" cy="3416400"/>
          </a:xfrm>
        </p:spPr>
        <p:txBody>
          <a:bodyPr/>
          <a:lstStyle/>
          <a:p>
            <a:pPr marL="114300" indent="0">
              <a:buNone/>
            </a:pPr>
            <a:r>
              <a:rPr lang="pt-BR" sz="1400" dirty="0"/>
              <a:t>CREATE TABLE </a:t>
            </a:r>
            <a:r>
              <a:rPr lang="pt-BR" sz="1400" dirty="0" err="1"/>
              <a:t>public.dim_tempo</a:t>
            </a:r>
            <a:r>
              <a:rPr lang="pt-BR" sz="1400" dirty="0"/>
              <a:t> (</a:t>
            </a:r>
          </a:p>
          <a:p>
            <a:pPr marL="114300" indent="0">
              <a:buNone/>
            </a:pPr>
            <a:r>
              <a:rPr lang="pt-BR" sz="1400" dirty="0"/>
              <a:t>    </a:t>
            </a:r>
            <a:r>
              <a:rPr lang="pt-BR" sz="1400" dirty="0" err="1"/>
              <a:t>sk_tempo</a:t>
            </a:r>
            <a:r>
              <a:rPr lang="pt-BR" sz="1400" dirty="0"/>
              <a:t> SERIAL PRIMARY KEY,</a:t>
            </a:r>
          </a:p>
          <a:p>
            <a:pPr marL="114300" indent="0">
              <a:buNone/>
            </a:pPr>
            <a:r>
              <a:rPr lang="pt-BR" sz="1400" dirty="0"/>
              <a:t>    </a:t>
            </a:r>
            <a:r>
              <a:rPr lang="pt-BR" sz="1400" dirty="0" err="1"/>
              <a:t>data_completa</a:t>
            </a:r>
            <a:r>
              <a:rPr lang="pt-BR" sz="1400" dirty="0"/>
              <a:t> DATE,</a:t>
            </a:r>
          </a:p>
          <a:p>
            <a:pPr marL="114300" indent="0">
              <a:buNone/>
            </a:pPr>
            <a:r>
              <a:rPr lang="pt-BR" sz="1400" dirty="0"/>
              <a:t>    ano INTEGER,</a:t>
            </a:r>
          </a:p>
          <a:p>
            <a:pPr marL="114300" indent="0">
              <a:buNone/>
            </a:pPr>
            <a:r>
              <a:rPr lang="pt-BR" sz="1400" dirty="0"/>
              <a:t>    </a:t>
            </a:r>
            <a:r>
              <a:rPr lang="pt-BR" sz="1400" dirty="0" err="1"/>
              <a:t>mes</a:t>
            </a:r>
            <a:r>
              <a:rPr lang="pt-BR" sz="1400" dirty="0"/>
              <a:t> INTEGER,</a:t>
            </a:r>
          </a:p>
          <a:p>
            <a:pPr marL="114300" indent="0">
              <a:buNone/>
            </a:pPr>
            <a:r>
              <a:rPr lang="pt-BR" sz="1400" dirty="0"/>
              <a:t>    dia INTEGER,</a:t>
            </a:r>
          </a:p>
          <a:p>
            <a:pPr marL="114300" indent="0">
              <a:buNone/>
            </a:pPr>
            <a:r>
              <a:rPr lang="pt-BR" sz="1400" dirty="0"/>
              <a:t>    trimestre INTEGER</a:t>
            </a:r>
          </a:p>
          <a:p>
            <a:pPr marL="114300" indent="0">
              <a:buNone/>
            </a:pPr>
            <a:r>
              <a:rPr lang="pt-BR" sz="1400" dirty="0"/>
              <a:t>);</a:t>
            </a:r>
          </a:p>
          <a:p>
            <a:pPr marL="114300" indent="0">
              <a:buNone/>
            </a:pPr>
            <a:endParaRPr lang="pt-BR" sz="1400" dirty="0"/>
          </a:p>
          <a:p>
            <a:pPr marL="114300" indent="0">
              <a:buNone/>
            </a:pPr>
            <a:r>
              <a:rPr lang="pt-BR" sz="1400" dirty="0"/>
              <a:t>CREATE INDEX </a:t>
            </a:r>
            <a:r>
              <a:rPr lang="pt-BR" sz="1400" dirty="0" err="1"/>
              <a:t>idx_dim_tempo_lookup</a:t>
            </a:r>
            <a:r>
              <a:rPr lang="pt-BR" sz="1400" dirty="0"/>
              <a:t> ON </a:t>
            </a:r>
            <a:r>
              <a:rPr lang="pt-BR" sz="1400" dirty="0" err="1"/>
              <a:t>public.dim_tempo</a:t>
            </a:r>
            <a:r>
              <a:rPr lang="pt-BR" sz="1400" dirty="0"/>
              <a:t>(</a:t>
            </a:r>
            <a:r>
              <a:rPr lang="pt-BR" sz="1400" dirty="0" err="1"/>
              <a:t>data_completa</a:t>
            </a:r>
            <a:r>
              <a:rPr lang="pt-BR" sz="1400" dirty="0"/>
              <a:t>);</a:t>
            </a:r>
          </a:p>
        </p:txBody>
      </p:sp>
      <p:sp>
        <p:nvSpPr>
          <p:cNvPr id="4" name="Rectangle 1"/>
          <p:cNvSpPr>
            <a:spLocks noGrp="1" noChangeArrowheads="1"/>
          </p:cNvSpPr>
          <p:nvPr>
            <p:ph type="title"/>
          </p:nvPr>
        </p:nvSpPr>
        <p:spPr bwMode="auto">
          <a:xfrm>
            <a:off x="311700" y="423599"/>
            <a:ext cx="4120039"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smtClean="0">
                <a:ln>
                  <a:noFill/>
                </a:ln>
                <a:solidFill>
                  <a:schemeClr val="tx1"/>
                </a:solidFill>
                <a:effectLst/>
                <a:latin typeface="Arial" panose="020B0604020202020204" pitchFamily="34" charset="0"/>
              </a:rPr>
              <a:t>3. Tabela Dimensão Tempo (</a:t>
            </a:r>
            <a:r>
              <a:rPr kumimoji="0" lang="pt-BR" altLang="pt-BR" sz="1600" b="1" i="0" u="none" strike="noStrike" cap="none" normalizeH="0" baseline="0" dirty="0" err="1" smtClean="0">
                <a:ln>
                  <a:noFill/>
                </a:ln>
                <a:solidFill>
                  <a:schemeClr val="tx1"/>
                </a:solidFill>
                <a:effectLst/>
                <a:latin typeface="Arial Unicode MS"/>
              </a:rPr>
              <a:t>dim_tempo</a:t>
            </a:r>
            <a:r>
              <a:rPr kumimoji="0" lang="pt-BR" altLang="pt-BR" sz="1600" b="1" i="0" u="none" strike="noStrike" cap="none" normalizeH="0" baseline="0" dirty="0" smtClean="0">
                <a:ln>
                  <a:noFill/>
                </a:ln>
                <a:solidFill>
                  <a:schemeClr val="tx1"/>
                </a:solidFill>
                <a:effectLst/>
              </a:rPr>
              <a:t>)</a:t>
            </a:r>
            <a:endParaRPr kumimoji="0" lang="pt-BR" altLang="pt-BR"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51511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11700" y="932469"/>
            <a:ext cx="8520600" cy="3416400"/>
          </a:xfrm>
        </p:spPr>
        <p:txBody>
          <a:bodyPr/>
          <a:lstStyle/>
          <a:p>
            <a:pPr marL="114300" indent="0">
              <a:buNone/>
            </a:pPr>
            <a:r>
              <a:rPr lang="pt-BR" sz="1400" dirty="0"/>
              <a:t>CREATE TABLE </a:t>
            </a:r>
            <a:r>
              <a:rPr lang="pt-BR" sz="1400" dirty="0" err="1"/>
              <a:t>public.fato_vendas</a:t>
            </a:r>
            <a:r>
              <a:rPr lang="pt-BR" sz="1400" dirty="0"/>
              <a:t> (</a:t>
            </a:r>
          </a:p>
          <a:p>
            <a:pPr marL="114300" indent="0">
              <a:buNone/>
            </a:pPr>
            <a:r>
              <a:rPr lang="pt-BR" sz="1400" dirty="0"/>
              <a:t>    </a:t>
            </a:r>
            <a:r>
              <a:rPr lang="pt-BR" sz="1400" dirty="0" err="1"/>
              <a:t>sk_cliente</a:t>
            </a:r>
            <a:r>
              <a:rPr lang="pt-BR" sz="1400" dirty="0"/>
              <a:t> INTEGER,</a:t>
            </a:r>
          </a:p>
          <a:p>
            <a:pPr marL="114300" indent="0">
              <a:buNone/>
            </a:pPr>
            <a:r>
              <a:rPr lang="pt-BR" sz="1400" dirty="0"/>
              <a:t>    </a:t>
            </a:r>
            <a:r>
              <a:rPr lang="pt-BR" sz="1400" dirty="0" err="1"/>
              <a:t>sk_produto</a:t>
            </a:r>
            <a:r>
              <a:rPr lang="pt-BR" sz="1400" dirty="0"/>
              <a:t> INTEGER,</a:t>
            </a:r>
          </a:p>
          <a:p>
            <a:pPr marL="114300" indent="0">
              <a:buNone/>
            </a:pPr>
            <a:r>
              <a:rPr lang="pt-BR" sz="1400" dirty="0"/>
              <a:t>    </a:t>
            </a:r>
            <a:r>
              <a:rPr lang="pt-BR" sz="1400" dirty="0" err="1"/>
              <a:t>sk_tempo</a:t>
            </a:r>
            <a:r>
              <a:rPr lang="pt-BR" sz="1400" dirty="0"/>
              <a:t> INTEGER,</a:t>
            </a:r>
          </a:p>
          <a:p>
            <a:pPr marL="114300" indent="0">
              <a:buNone/>
            </a:pPr>
            <a:r>
              <a:rPr lang="pt-BR" sz="1400" dirty="0"/>
              <a:t>    </a:t>
            </a:r>
            <a:r>
              <a:rPr lang="pt-BR" sz="1400" dirty="0" err="1"/>
              <a:t>valor_venda</a:t>
            </a:r>
            <a:r>
              <a:rPr lang="pt-BR" sz="1400" dirty="0"/>
              <a:t> NUMERIC(10,2),</a:t>
            </a:r>
          </a:p>
          <a:p>
            <a:pPr marL="114300" indent="0">
              <a:buNone/>
            </a:pPr>
            <a:r>
              <a:rPr lang="pt-BR" sz="1400" dirty="0"/>
              <a:t>    </a:t>
            </a:r>
            <a:r>
              <a:rPr lang="pt-BR" sz="1400" dirty="0" err="1"/>
              <a:t>valor_frete</a:t>
            </a:r>
            <a:r>
              <a:rPr lang="pt-BR" sz="1400" dirty="0"/>
              <a:t> NUMERIC(10,2)</a:t>
            </a:r>
          </a:p>
          <a:p>
            <a:pPr marL="114300" indent="0">
              <a:buNone/>
            </a:pPr>
            <a:r>
              <a:rPr lang="pt-BR" sz="1400" dirty="0"/>
              <a:t>);</a:t>
            </a:r>
          </a:p>
          <a:p>
            <a:pPr marL="114300" indent="0">
              <a:buNone/>
            </a:pPr>
            <a:endParaRPr lang="pt-BR" sz="1400" dirty="0"/>
          </a:p>
          <a:p>
            <a:pPr marL="114300" indent="0">
              <a:buNone/>
            </a:pPr>
            <a:r>
              <a:rPr lang="pt-BR" sz="1400" dirty="0"/>
              <a:t>-- Criação de Índices para Performance de </a:t>
            </a:r>
            <a:r>
              <a:rPr lang="pt-BR" sz="1400" dirty="0" err="1"/>
              <a:t>Joins</a:t>
            </a:r>
            <a:endParaRPr lang="pt-BR" sz="1400" dirty="0"/>
          </a:p>
          <a:p>
            <a:pPr marL="114300" indent="0">
              <a:buNone/>
            </a:pPr>
            <a:r>
              <a:rPr lang="pt-BR" sz="1400" dirty="0"/>
              <a:t>CREATE INDEX </a:t>
            </a:r>
            <a:r>
              <a:rPr lang="pt-BR" sz="1400" dirty="0" err="1"/>
              <a:t>idx_fato_cliente</a:t>
            </a:r>
            <a:r>
              <a:rPr lang="pt-BR" sz="1400" dirty="0"/>
              <a:t> ON </a:t>
            </a:r>
            <a:r>
              <a:rPr lang="pt-BR" sz="1400" dirty="0" err="1"/>
              <a:t>public.fato_vendas</a:t>
            </a:r>
            <a:r>
              <a:rPr lang="pt-BR" sz="1400" dirty="0"/>
              <a:t>(</a:t>
            </a:r>
            <a:r>
              <a:rPr lang="pt-BR" sz="1400" dirty="0" err="1"/>
              <a:t>sk_cliente</a:t>
            </a:r>
            <a:r>
              <a:rPr lang="pt-BR" sz="1400" dirty="0"/>
              <a:t>);</a:t>
            </a:r>
          </a:p>
          <a:p>
            <a:pPr marL="114300" indent="0">
              <a:buNone/>
            </a:pPr>
            <a:r>
              <a:rPr lang="pt-BR" sz="1400" dirty="0"/>
              <a:t>CREATE INDEX </a:t>
            </a:r>
            <a:r>
              <a:rPr lang="pt-BR" sz="1400" dirty="0" err="1"/>
              <a:t>idx_fato_produto</a:t>
            </a:r>
            <a:r>
              <a:rPr lang="pt-BR" sz="1400" dirty="0"/>
              <a:t> ON </a:t>
            </a:r>
            <a:r>
              <a:rPr lang="pt-BR" sz="1400" dirty="0" err="1"/>
              <a:t>public.fato_vendas</a:t>
            </a:r>
            <a:r>
              <a:rPr lang="pt-BR" sz="1400" dirty="0"/>
              <a:t>(</a:t>
            </a:r>
            <a:r>
              <a:rPr lang="pt-BR" sz="1400" dirty="0" err="1"/>
              <a:t>sk_produto</a:t>
            </a:r>
            <a:r>
              <a:rPr lang="pt-BR" sz="1400" dirty="0"/>
              <a:t>);</a:t>
            </a:r>
          </a:p>
          <a:p>
            <a:pPr marL="114300" indent="0">
              <a:buNone/>
            </a:pPr>
            <a:r>
              <a:rPr lang="pt-BR" sz="1400" dirty="0"/>
              <a:t>CREATE INDEX </a:t>
            </a:r>
            <a:r>
              <a:rPr lang="pt-BR" sz="1400" dirty="0" err="1"/>
              <a:t>idx_fato_tempo</a:t>
            </a:r>
            <a:r>
              <a:rPr lang="pt-BR" sz="1400" dirty="0"/>
              <a:t> ON </a:t>
            </a:r>
            <a:r>
              <a:rPr lang="pt-BR" sz="1400" dirty="0" err="1"/>
              <a:t>public.fato_vendas</a:t>
            </a:r>
            <a:r>
              <a:rPr lang="pt-BR" sz="1400" dirty="0"/>
              <a:t>(</a:t>
            </a:r>
            <a:r>
              <a:rPr lang="pt-BR" sz="1400" dirty="0" err="1"/>
              <a:t>sk_tempo</a:t>
            </a:r>
            <a:r>
              <a:rPr lang="pt-BR" sz="1400" dirty="0"/>
              <a:t>);</a:t>
            </a:r>
          </a:p>
        </p:txBody>
      </p:sp>
      <p:sp>
        <p:nvSpPr>
          <p:cNvPr id="4" name="Rectangle 1"/>
          <p:cNvSpPr>
            <a:spLocks noGrp="1" noChangeArrowheads="1"/>
          </p:cNvSpPr>
          <p:nvPr>
            <p:ph type="title"/>
          </p:nvPr>
        </p:nvSpPr>
        <p:spPr bwMode="auto">
          <a:xfrm>
            <a:off x="311700" y="423599"/>
            <a:ext cx="373050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smtClean="0">
                <a:ln>
                  <a:noFill/>
                </a:ln>
                <a:solidFill>
                  <a:schemeClr val="tx1"/>
                </a:solidFill>
                <a:effectLst/>
                <a:latin typeface="Arial" panose="020B0604020202020204" pitchFamily="34" charset="0"/>
              </a:rPr>
              <a:t>4. Tabela Fato Vendas (</a:t>
            </a:r>
            <a:r>
              <a:rPr kumimoji="0" lang="pt-BR" altLang="pt-BR" sz="1600" b="1" i="0" u="none" strike="noStrike" cap="none" normalizeH="0" baseline="0" dirty="0" err="1" smtClean="0">
                <a:ln>
                  <a:noFill/>
                </a:ln>
                <a:solidFill>
                  <a:schemeClr val="tx1"/>
                </a:solidFill>
                <a:effectLst/>
                <a:latin typeface="Arial Unicode MS"/>
              </a:rPr>
              <a:t>fato_vendas</a:t>
            </a:r>
            <a:r>
              <a:rPr kumimoji="0" lang="pt-BR" altLang="pt-BR" sz="1600" b="1" i="0" u="none" strike="noStrike" cap="none" normalizeH="0" baseline="0" dirty="0" smtClean="0">
                <a:ln>
                  <a:noFill/>
                </a:ln>
                <a:solidFill>
                  <a:schemeClr val="tx1"/>
                </a:solidFill>
                <a:effectLst/>
              </a:rPr>
              <a:t>)</a:t>
            </a:r>
            <a:endParaRPr kumimoji="0" lang="pt-BR" altLang="pt-BR"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2827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178"/>
        <p:cNvGrpSpPr/>
        <p:nvPr/>
      </p:nvGrpSpPr>
      <p:grpSpPr>
        <a:xfrm>
          <a:off x="0" y="0"/>
          <a:ext cx="0" cy="0"/>
          <a:chOff x="0" y="0"/>
          <a:chExt cx="0" cy="0"/>
        </a:xfrm>
      </p:grpSpPr>
      <p:sp>
        <p:nvSpPr>
          <p:cNvPr id="179" name="Google Shape;179;p34"/>
          <p:cNvSpPr txBox="1">
            <a:spLocks noGrp="1"/>
          </p:cNvSpPr>
          <p:nvPr>
            <p:ph type="title"/>
          </p:nvPr>
        </p:nvSpPr>
        <p:spPr>
          <a:xfrm>
            <a:off x="311700" y="1702550"/>
            <a:ext cx="8520600" cy="12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pt-BR"/>
              <a:t>ETAPA 5 - EXTRAÇÃO, TRANSFORMAÇÃO E CARGA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2"/>
            </a:pPr>
            <a:r>
              <a:rPr lang="pt-BR"/>
              <a:t>Plano de Carga da Dimensão Tempo</a:t>
            </a:r>
            <a:endParaRPr/>
          </a:p>
        </p:txBody>
      </p:sp>
      <p:sp>
        <p:nvSpPr>
          <p:cNvPr id="2" name="Rectangle 1"/>
          <p:cNvSpPr>
            <a:spLocks noGrp="1" noChangeArrowheads="1"/>
          </p:cNvSpPr>
          <p:nvPr>
            <p:ph type="body" idx="1"/>
          </p:nvPr>
        </p:nvSpPr>
        <p:spPr bwMode="auto">
          <a:xfrm>
            <a:off x="428905" y="897195"/>
            <a:ext cx="6989423"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Objetivo:</a:t>
            </a:r>
            <a:r>
              <a:rPr kumimoji="0" lang="pt-BR" altLang="pt-BR" sz="1400" b="0" i="0" u="none" strike="noStrike" cap="none" normalizeH="0" baseline="0" dirty="0" smtClean="0">
                <a:ln>
                  <a:noFill/>
                </a:ln>
                <a:solidFill>
                  <a:schemeClr val="tx1"/>
                </a:solidFill>
                <a:effectLst/>
                <a:latin typeface="Arial" panose="020B0604020202020204" pitchFamily="34" charset="0"/>
              </a:rPr>
              <a:t> Criar um calendário mestre para suportar análises temporais.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Estratégia de Extração:</a:t>
            </a:r>
            <a:r>
              <a:rPr kumimoji="0" lang="pt-BR" altLang="pt-BR" sz="1400" b="0" i="0" u="none" strike="noStrike" cap="none" normalizeH="0" baseline="0" dirty="0" smtClean="0">
                <a:ln>
                  <a:noFill/>
                </a:ln>
                <a:solidFill>
                  <a:schemeClr val="tx1"/>
                </a:solidFill>
                <a:effectLst/>
                <a:latin typeface="Arial" panose="020B0604020202020204" pitchFamily="34" charset="0"/>
              </a:rPr>
              <a:t> Geração de dados interna (sem fonte externa). </a:t>
            </a:r>
            <a:r>
              <a:rPr kumimoji="0" lang="pt-BR" altLang="pt-BR" sz="1400" b="1" i="0" u="none" strike="noStrike" cap="none" normalizeH="0" baseline="0" dirty="0" smtClean="0">
                <a:ln>
                  <a:noFill/>
                </a:ln>
                <a:solidFill>
                  <a:schemeClr val="tx1"/>
                </a:solidFill>
                <a:effectLst/>
                <a:latin typeface="Arial" panose="020B0604020202020204" pitchFamily="34" charset="0"/>
              </a:rPr>
              <a:t>Fluxo de Transformação:</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Generate</a:t>
            </a: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Rows</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Geração de 3.000 linhas iniciadas em 01/01/2016.</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Add</a:t>
            </a: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Sequence</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Criação de um contador incremental.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Calculator</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Soma do contador à data inicial para gerar a data corrente. Extração dos atributos derivados: </a:t>
            </a:r>
            <a:r>
              <a:rPr kumimoji="0" lang="pt-BR" altLang="pt-BR" sz="1400" b="0" i="0" u="none" strike="noStrike" cap="none" normalizeH="0" baseline="0" dirty="0" smtClean="0">
                <a:ln>
                  <a:noFill/>
                </a:ln>
                <a:solidFill>
                  <a:schemeClr val="tx1"/>
                </a:solidFill>
                <a:effectLst/>
                <a:latin typeface="Arial Unicode MS"/>
              </a:rPr>
              <a:t>Ano</a:t>
            </a:r>
            <a:r>
              <a:rPr kumimoji="0" lang="pt-BR" altLang="pt-BR" sz="1400" b="0" i="0" u="none" strike="noStrike" cap="none" normalizeH="0" baseline="0" dirty="0" smtClean="0">
                <a:ln>
                  <a:noFill/>
                </a:ln>
                <a:solidFill>
                  <a:schemeClr val="tx1"/>
                </a:solidFill>
                <a:effectLst/>
              </a:rPr>
              <a:t>, </a:t>
            </a:r>
            <a:r>
              <a:rPr kumimoji="0" lang="pt-BR" altLang="pt-BR" sz="1400" b="0" i="0" u="none" strike="noStrike" cap="none" normalizeH="0" baseline="0" dirty="0" smtClean="0">
                <a:ln>
                  <a:noFill/>
                </a:ln>
                <a:solidFill>
                  <a:schemeClr val="tx1"/>
                </a:solidFill>
                <a:effectLst/>
                <a:latin typeface="Arial Unicode MS"/>
              </a:rPr>
              <a:t>Mês</a:t>
            </a:r>
            <a:r>
              <a:rPr kumimoji="0" lang="pt-BR" altLang="pt-BR" sz="1400" b="0" i="0" u="none" strike="noStrike" cap="none" normalizeH="0" baseline="0" dirty="0" smtClean="0">
                <a:ln>
                  <a:noFill/>
                </a:ln>
                <a:solidFill>
                  <a:schemeClr val="tx1"/>
                </a:solidFill>
                <a:effectLst/>
              </a:rPr>
              <a:t>, </a:t>
            </a:r>
            <a:r>
              <a:rPr kumimoji="0" lang="pt-BR" altLang="pt-BR" sz="1400" b="0" i="0" u="none" strike="noStrike" cap="none" normalizeH="0" baseline="0" dirty="0" smtClean="0">
                <a:ln>
                  <a:noFill/>
                </a:ln>
                <a:solidFill>
                  <a:schemeClr val="tx1"/>
                </a:solidFill>
                <a:effectLst/>
                <a:latin typeface="Arial Unicode MS"/>
              </a:rPr>
              <a:t>Dia</a:t>
            </a:r>
            <a:r>
              <a:rPr kumimoji="0" lang="pt-BR" altLang="pt-BR" sz="1400" b="0" i="0" u="none" strike="noStrike" cap="none" normalizeH="0" baseline="0" dirty="0" smtClean="0">
                <a:ln>
                  <a:noFill/>
                </a:ln>
                <a:solidFill>
                  <a:schemeClr val="tx1"/>
                </a:solidFill>
                <a:effectLst/>
              </a:rPr>
              <a:t>, </a:t>
            </a:r>
            <a:r>
              <a:rPr kumimoji="0" lang="pt-BR" altLang="pt-BR" sz="1400" b="0" i="0" u="none" strike="noStrike" cap="none" normalizeH="0" baseline="0" dirty="0" smtClean="0">
                <a:ln>
                  <a:noFill/>
                </a:ln>
                <a:solidFill>
                  <a:schemeClr val="tx1"/>
                </a:solidFill>
                <a:effectLst/>
                <a:latin typeface="Arial Unicode MS"/>
              </a:rPr>
              <a:t>Trimestre</a:t>
            </a:r>
            <a:r>
              <a:rPr kumimoji="0" lang="pt-BR" altLang="pt-BR" sz="14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Carga:</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Step</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Dimension </a:t>
            </a:r>
            <a:r>
              <a:rPr kumimoji="0" lang="pt-BR" altLang="pt-BR" sz="1400" b="0" i="0" u="none" strike="noStrike" cap="none" normalizeH="0" baseline="0" dirty="0" err="1" smtClean="0">
                <a:ln>
                  <a:noFill/>
                </a:ln>
                <a:solidFill>
                  <a:schemeClr val="tx1"/>
                </a:solidFill>
                <a:effectLst/>
                <a:latin typeface="Arial" panose="020B0604020202020204" pitchFamily="34" charset="0"/>
              </a:rPr>
              <a:t>lookup</a:t>
            </a:r>
            <a:r>
              <a:rPr kumimoji="0" lang="pt-BR" altLang="pt-BR" sz="1400" b="0"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err="1" smtClean="0">
                <a:ln>
                  <a:noFill/>
                </a:ln>
                <a:solidFill>
                  <a:schemeClr val="tx1"/>
                </a:solidFill>
                <a:effectLst/>
                <a:latin typeface="Arial" panose="020B0604020202020204" pitchFamily="34" charset="0"/>
              </a:rPr>
              <a:t>update</a:t>
            </a:r>
            <a:r>
              <a:rPr kumimoji="0" lang="pt-BR" altLang="pt-BR" sz="1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Tabela Alvo:</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Unicode MS"/>
              </a:rPr>
              <a:t>dim_tempo</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Chave:</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Unicode MS"/>
              </a:rPr>
              <a:t>data_completa</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3"/>
            </a:pPr>
            <a:r>
              <a:rPr lang="pt-BR" dirty="0"/>
              <a:t>Plano de Carga da Dimensão </a:t>
            </a:r>
            <a:r>
              <a:rPr lang="pt-BR" dirty="0" smtClean="0"/>
              <a:t>Cliente</a:t>
            </a:r>
            <a:endParaRPr dirty="0"/>
          </a:p>
        </p:txBody>
      </p:sp>
      <p:sp>
        <p:nvSpPr>
          <p:cNvPr id="2" name="Rectangle 1"/>
          <p:cNvSpPr>
            <a:spLocks noGrp="1" noChangeArrowheads="1"/>
          </p:cNvSpPr>
          <p:nvPr>
            <p:ph type="body" idx="1"/>
          </p:nvPr>
        </p:nvSpPr>
        <p:spPr bwMode="auto">
          <a:xfrm>
            <a:off x="471266" y="1234872"/>
            <a:ext cx="6830183"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Objetivo:</a:t>
            </a:r>
            <a:r>
              <a:rPr kumimoji="0" lang="pt-BR" altLang="pt-BR" sz="1400" b="0" i="0" u="none" strike="noStrike" cap="none" normalizeH="0" baseline="0" dirty="0" smtClean="0">
                <a:ln>
                  <a:noFill/>
                </a:ln>
                <a:solidFill>
                  <a:schemeClr val="tx1"/>
                </a:solidFill>
                <a:effectLst/>
                <a:latin typeface="Arial" panose="020B0604020202020204" pitchFamily="34" charset="0"/>
              </a:rPr>
              <a:t> Carregar a base de consumidores únicos, normalizando a geografia. </a:t>
            </a:r>
            <a:r>
              <a:rPr kumimoji="0" lang="pt-BR" altLang="pt-BR" sz="1400" b="1" i="0" u="none" strike="noStrike" cap="none" normalizeH="0" baseline="0" dirty="0" smtClean="0">
                <a:ln>
                  <a:noFill/>
                </a:ln>
                <a:solidFill>
                  <a:schemeClr val="tx1"/>
                </a:solidFill>
                <a:effectLst/>
                <a:latin typeface="Arial" panose="020B0604020202020204" pitchFamily="34" charset="0"/>
              </a:rPr>
              <a:t>Fonte de Dados:</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smtClean="0">
                <a:ln>
                  <a:noFill/>
                </a:ln>
                <a:solidFill>
                  <a:schemeClr val="tx1"/>
                </a:solidFill>
                <a:effectLst/>
                <a:latin typeface="Arial Unicode MS"/>
              </a:rPr>
              <a:t>olist_customers_dataset.csv</a:t>
            </a:r>
            <a:r>
              <a:rPr kumimoji="0" lang="pt-BR" altLang="pt-BR" sz="14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Fluxo de Transformação:</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CSV File Input:</a:t>
            </a:r>
            <a:r>
              <a:rPr kumimoji="0" lang="pt-BR" altLang="pt-BR" sz="1400" b="0" i="0" u="none" strike="noStrike" cap="none" normalizeH="0" baseline="0" dirty="0" smtClean="0">
                <a:ln>
                  <a:noFill/>
                </a:ln>
                <a:solidFill>
                  <a:schemeClr val="tx1"/>
                </a:solidFill>
                <a:effectLst/>
                <a:latin typeface="Arial" panose="020B0604020202020204" pitchFamily="34" charset="0"/>
              </a:rPr>
              <a:t> Leitura do arquivo de clientes.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Sort</a:t>
            </a: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Rows</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Ordenação pelo </a:t>
            </a:r>
            <a:r>
              <a:rPr kumimoji="0" lang="pt-BR" altLang="pt-BR" sz="1400" b="0" i="0" u="none" strike="noStrike" cap="none" normalizeH="0" baseline="0" dirty="0" err="1" smtClean="0">
                <a:ln>
                  <a:noFill/>
                </a:ln>
                <a:solidFill>
                  <a:schemeClr val="tx1"/>
                </a:solidFill>
                <a:effectLst/>
                <a:latin typeface="Arial Unicode MS"/>
              </a:rPr>
              <a:t>customer_unique_id</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Unique</a:t>
            </a: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Rows</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Remoção de duplicatas para garantir que cada cliente único apareça apenas uma vez, independente de quantas compras fez. </a:t>
            </a:r>
          </a:p>
          <a:p>
            <a:pPr marL="0" marR="0" lvl="0" indent="0" algn="l" defTabSz="914400" rtl="0" eaLnBrk="0" fontAlgn="base" latinLnBrk="0" hangingPunct="0">
              <a:lnSpc>
                <a:spcPct val="100000"/>
              </a:lnSpc>
              <a:spcBef>
                <a:spcPct val="0"/>
              </a:spcBef>
              <a:spcAft>
                <a:spcPct val="0"/>
              </a:spcAft>
              <a:buClrTx/>
              <a:buSz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Carga:</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Step</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Dimension </a:t>
            </a:r>
            <a:r>
              <a:rPr kumimoji="0" lang="pt-BR" altLang="pt-BR" sz="1400" b="0" i="0" u="none" strike="noStrike" cap="none" normalizeH="0" baseline="0" dirty="0" err="1" smtClean="0">
                <a:ln>
                  <a:noFill/>
                </a:ln>
                <a:solidFill>
                  <a:schemeClr val="tx1"/>
                </a:solidFill>
                <a:effectLst/>
                <a:latin typeface="Arial" panose="020B0604020202020204" pitchFamily="34" charset="0"/>
              </a:rPr>
              <a:t>lookup</a:t>
            </a:r>
            <a:r>
              <a:rPr kumimoji="0" lang="pt-BR" altLang="pt-BR" sz="1400" b="0"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err="1" smtClean="0">
                <a:ln>
                  <a:noFill/>
                </a:ln>
                <a:solidFill>
                  <a:schemeClr val="tx1"/>
                </a:solidFill>
                <a:effectLst/>
                <a:latin typeface="Arial" panose="020B0604020202020204" pitchFamily="34" charset="0"/>
              </a:rPr>
              <a:t>update</a:t>
            </a:r>
            <a:r>
              <a:rPr kumimoji="0" lang="pt-BR" altLang="pt-BR" sz="1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Tabela Alvo:</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Unicode MS"/>
              </a:rPr>
              <a:t>dim_cliente</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Chave de Negócio (Business Key):</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Unicode MS"/>
              </a:rPr>
              <a:t>customer_unique_id</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Chave Substituta (</a:t>
            </a:r>
            <a:r>
              <a:rPr kumimoji="0" lang="pt-BR" altLang="pt-BR" sz="1400" b="1" i="0" u="none" strike="noStrike" cap="none" normalizeH="0" baseline="0" dirty="0" err="1" smtClean="0">
                <a:ln>
                  <a:noFill/>
                </a:ln>
                <a:solidFill>
                  <a:schemeClr val="tx1"/>
                </a:solidFill>
                <a:effectLst/>
                <a:latin typeface="Arial" panose="020B0604020202020204" pitchFamily="34" charset="0"/>
              </a:rPr>
              <a:t>Surrogate</a:t>
            </a:r>
            <a:r>
              <a:rPr kumimoji="0" lang="pt-BR" altLang="pt-BR" sz="1400" b="1" i="0" u="none" strike="noStrike" cap="none" normalizeH="0" baseline="0" dirty="0" smtClean="0">
                <a:ln>
                  <a:noFill/>
                </a:ln>
                <a:solidFill>
                  <a:schemeClr val="tx1"/>
                </a:solidFill>
                <a:effectLst/>
                <a:latin typeface="Arial" panose="020B0604020202020204" pitchFamily="34" charset="0"/>
              </a:rPr>
              <a:t> Key):</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Unicode MS"/>
              </a:rPr>
              <a:t>sk_cliente</a:t>
            </a:r>
            <a:r>
              <a:rPr kumimoji="0" lang="pt-BR" altLang="pt-BR" sz="1400" b="0" i="0" u="none" strike="noStrike" cap="none" normalizeH="0" baseline="0" dirty="0" smtClean="0">
                <a:ln>
                  <a:noFill/>
                </a:ln>
                <a:solidFill>
                  <a:schemeClr val="tx1"/>
                </a:solidFill>
                <a:effectLst/>
              </a:rPr>
              <a:t> (</a:t>
            </a:r>
            <a:r>
              <a:rPr kumimoji="0" lang="pt-BR" altLang="pt-BR" sz="1400" b="0" i="0" u="none" strike="noStrike" cap="none" normalizeH="0" baseline="0" dirty="0" err="1" smtClean="0">
                <a:ln>
                  <a:noFill/>
                </a:ln>
                <a:solidFill>
                  <a:schemeClr val="tx1"/>
                </a:solidFill>
                <a:effectLst/>
              </a:rPr>
              <a:t>Auto-incremental</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4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4"/>
            </a:pPr>
            <a:r>
              <a:rPr lang="pt-BR" dirty="0"/>
              <a:t>Plano de Carga da Dimensão </a:t>
            </a:r>
            <a:r>
              <a:rPr lang="pt-BR" dirty="0" smtClean="0"/>
              <a:t>Produto</a:t>
            </a:r>
            <a:endParaRPr dirty="0"/>
          </a:p>
        </p:txBody>
      </p:sp>
      <p:sp>
        <p:nvSpPr>
          <p:cNvPr id="2" name="Rectangle 1"/>
          <p:cNvSpPr>
            <a:spLocks noGrp="1" noChangeArrowheads="1"/>
          </p:cNvSpPr>
          <p:nvPr>
            <p:ph type="body" idx="1"/>
          </p:nvPr>
        </p:nvSpPr>
        <p:spPr bwMode="auto">
          <a:xfrm>
            <a:off x="436097" y="1017725"/>
            <a:ext cx="6590345"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Objetivo:</a:t>
            </a:r>
            <a:r>
              <a:rPr kumimoji="0" lang="pt-BR" altLang="pt-BR" sz="1400" b="0" i="0" u="none" strike="noStrike" cap="none" normalizeH="0" baseline="0" dirty="0" smtClean="0">
                <a:ln>
                  <a:noFill/>
                </a:ln>
                <a:solidFill>
                  <a:schemeClr val="tx1"/>
                </a:solidFill>
                <a:effectLst/>
                <a:latin typeface="Arial" panose="020B0604020202020204" pitchFamily="34" charset="0"/>
              </a:rPr>
              <a:t> Catalogar os itens vendidos e suas categorias.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Fonte de Dados:</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smtClean="0">
                <a:ln>
                  <a:noFill/>
                </a:ln>
                <a:solidFill>
                  <a:schemeClr val="tx1"/>
                </a:solidFill>
                <a:effectLst/>
                <a:latin typeface="Arial Unicode MS"/>
              </a:rPr>
              <a:t>olist_products_dataset.csv</a:t>
            </a:r>
            <a:r>
              <a:rPr kumimoji="0" lang="pt-BR" altLang="pt-BR" sz="14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Fluxo de Transformação:</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pt-BR" altLang="pt-BR" sz="1400" b="1" i="0" u="none" strike="noStrike" cap="none" normalizeH="0" baseline="0" dirty="0" smtClean="0">
                <a:ln>
                  <a:noFill/>
                </a:ln>
                <a:solidFill>
                  <a:schemeClr val="tx1"/>
                </a:solidFill>
                <a:effectLst/>
                <a:latin typeface="Arial" panose="020B0604020202020204" pitchFamily="34" charset="0"/>
              </a:rPr>
              <a:t>CSV File Input:</a:t>
            </a:r>
            <a:r>
              <a:rPr kumimoji="0" lang="pt-BR" altLang="pt-BR" sz="1400" b="0" i="0" u="none" strike="noStrike" cap="none" normalizeH="0" baseline="0" dirty="0" smtClean="0">
                <a:ln>
                  <a:noFill/>
                </a:ln>
                <a:solidFill>
                  <a:schemeClr val="tx1"/>
                </a:solidFill>
                <a:effectLst/>
                <a:latin typeface="Arial" panose="020B0604020202020204" pitchFamily="34" charset="0"/>
              </a:rPr>
              <a:t> Leitura do catálogo de produtos.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pt-BR" altLang="pt-BR" sz="1400" b="1" i="0" u="none" strike="noStrike" cap="none" normalizeH="0" baseline="0" dirty="0" smtClean="0">
                <a:ln>
                  <a:noFill/>
                </a:ln>
                <a:solidFill>
                  <a:schemeClr val="tx1"/>
                </a:solidFill>
                <a:effectLst/>
                <a:latin typeface="Arial" panose="020B0604020202020204" pitchFamily="34" charset="0"/>
              </a:rPr>
              <a:t>Data </a:t>
            </a:r>
            <a:r>
              <a:rPr kumimoji="0" lang="pt-BR" altLang="pt-BR" sz="1400" b="1" i="0" u="none" strike="noStrike" cap="none" normalizeH="0" baseline="0" dirty="0" err="1" smtClean="0">
                <a:ln>
                  <a:noFill/>
                </a:ln>
                <a:solidFill>
                  <a:schemeClr val="tx1"/>
                </a:solidFill>
                <a:effectLst/>
                <a:latin typeface="Arial" panose="020B0604020202020204" pitchFamily="34" charset="0"/>
              </a:rPr>
              <a:t>Cleaning</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Tratamento de categorias nulas (substituição por "Não Informado") e normalização de </a:t>
            </a:r>
            <a:r>
              <a:rPr kumimoji="0" lang="pt-BR" altLang="pt-BR" sz="1400" b="0" i="0" u="none" strike="noStrike" cap="none" normalizeH="0" baseline="0" dirty="0" err="1" smtClean="0">
                <a:ln>
                  <a:noFill/>
                </a:ln>
                <a:solidFill>
                  <a:schemeClr val="tx1"/>
                </a:solidFill>
                <a:effectLst/>
                <a:latin typeface="Arial" panose="020B0604020202020204" pitchFamily="34" charset="0"/>
              </a:rPr>
              <a:t>strings</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panose="020B0604020202020204" pitchFamily="34" charset="0"/>
              </a:rPr>
              <a:t>ex</a:t>
            </a:r>
            <a:r>
              <a:rPr kumimoji="0" lang="pt-BR" altLang="pt-BR" sz="1400" b="0" i="0" u="none" strike="noStrike" cap="none" normalizeH="0" baseline="0" dirty="0" smtClean="0">
                <a:ln>
                  <a:noFill/>
                </a:ln>
                <a:solidFill>
                  <a:schemeClr val="tx1"/>
                </a:solidFill>
                <a:effectLst/>
                <a:latin typeface="Arial" panose="020B0604020202020204" pitchFamily="34" charset="0"/>
              </a:rPr>
              <a:t>: substituição de "_" por espaço). </a:t>
            </a:r>
            <a:r>
              <a:rPr kumimoji="0" lang="pt-BR" altLang="pt-BR" sz="1400" b="1" i="0" u="none" strike="noStrike" cap="none" normalizeH="0" baseline="0" dirty="0" smtClean="0">
                <a:ln>
                  <a:noFill/>
                </a:ln>
                <a:solidFill>
                  <a:schemeClr val="tx1"/>
                </a:solidFill>
                <a:effectLst/>
                <a:latin typeface="Arial" panose="020B0604020202020204" pitchFamily="34" charset="0"/>
              </a:rPr>
              <a:t>Carga:</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a:t>
            </a:r>
            <a:r>
              <a:rPr kumimoji="0" lang="pt-BR" altLang="pt-BR" sz="1400" b="1" i="0" u="none" strike="noStrike" cap="none" normalizeH="0" baseline="0" dirty="0" err="1" smtClean="0">
                <a:ln>
                  <a:noFill/>
                </a:ln>
                <a:solidFill>
                  <a:schemeClr val="tx1"/>
                </a:solidFill>
                <a:effectLst/>
                <a:latin typeface="Arial" panose="020B0604020202020204" pitchFamily="34" charset="0"/>
              </a:rPr>
              <a:t>Step</a:t>
            </a:r>
            <a:r>
              <a:rPr kumimoji="0" lang="pt-BR" altLang="pt-BR" sz="1400" b="1"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smtClean="0">
                <a:ln>
                  <a:noFill/>
                </a:ln>
                <a:solidFill>
                  <a:schemeClr val="tx1"/>
                </a:solidFill>
                <a:effectLst/>
                <a:latin typeface="Arial" panose="020B0604020202020204" pitchFamily="34" charset="0"/>
              </a:rPr>
              <a:t> Dimension </a:t>
            </a:r>
            <a:r>
              <a:rPr kumimoji="0" lang="pt-BR" altLang="pt-BR" sz="1400" b="0" i="0" u="none" strike="noStrike" cap="none" normalizeH="0" baseline="0" dirty="0" err="1" smtClean="0">
                <a:ln>
                  <a:noFill/>
                </a:ln>
                <a:solidFill>
                  <a:schemeClr val="tx1"/>
                </a:solidFill>
                <a:effectLst/>
                <a:latin typeface="Arial" panose="020B0604020202020204" pitchFamily="34" charset="0"/>
              </a:rPr>
              <a:t>lookup</a:t>
            </a:r>
            <a:r>
              <a:rPr kumimoji="0" lang="pt-BR" altLang="pt-BR" sz="1400" b="0" i="0" u="none" strike="noStrike" cap="none" normalizeH="0" baseline="0" dirty="0" smtClean="0">
                <a:ln>
                  <a:noFill/>
                </a:ln>
                <a:solidFill>
                  <a:schemeClr val="tx1"/>
                </a:solidFill>
                <a:effectLst/>
                <a:latin typeface="Arial" panose="020B0604020202020204" pitchFamily="34" charset="0"/>
              </a:rPr>
              <a:t>/</a:t>
            </a:r>
            <a:r>
              <a:rPr kumimoji="0" lang="pt-BR" altLang="pt-BR" sz="1400" b="0" i="0" u="none" strike="noStrike" cap="none" normalizeH="0" baseline="0" dirty="0" err="1" smtClean="0">
                <a:ln>
                  <a:noFill/>
                </a:ln>
                <a:solidFill>
                  <a:schemeClr val="tx1"/>
                </a:solidFill>
                <a:effectLst/>
                <a:latin typeface="Arial" panose="020B0604020202020204" pitchFamily="34" charset="0"/>
              </a:rPr>
              <a:t>update</a:t>
            </a:r>
            <a:r>
              <a:rPr kumimoji="0" lang="pt-BR" altLang="pt-BR" sz="1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Tabela Alvo:</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Unicode MS"/>
              </a:rPr>
              <a:t>dim_produto</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Chave de Negócio:</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Unicode MS"/>
              </a:rPr>
              <a:t>product_id</a:t>
            </a:r>
            <a:r>
              <a:rPr kumimoji="0" lang="pt-BR" altLang="pt-BR" sz="1400" b="0" i="0" u="none" strike="noStrike" cap="none" normalizeH="0" baseline="0" dirty="0" smtClean="0">
                <a:ln>
                  <a:noFill/>
                </a:ln>
                <a:solidFill>
                  <a:schemeClr val="tx1"/>
                </a:solidFill>
                <a:effectLst/>
              </a:rPr>
              <a:t> (Original da </a:t>
            </a:r>
            <a:r>
              <a:rPr kumimoji="0" lang="pt-BR" altLang="pt-BR" sz="1400" b="0" i="0" u="none" strike="noStrike" cap="none" normalizeH="0" baseline="0" dirty="0" err="1" smtClean="0">
                <a:ln>
                  <a:noFill/>
                </a:ln>
                <a:solidFill>
                  <a:schemeClr val="tx1"/>
                </a:solidFill>
                <a:effectLst/>
              </a:rPr>
              <a:t>Olist</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400" b="1" i="0" u="none" strike="noStrike" cap="none" normalizeH="0" baseline="0" dirty="0" smtClean="0">
                <a:ln>
                  <a:noFill/>
                </a:ln>
                <a:solidFill>
                  <a:schemeClr val="tx1"/>
                </a:solidFill>
                <a:effectLst/>
                <a:latin typeface="Arial" panose="020B0604020202020204" pitchFamily="34" charset="0"/>
              </a:rPr>
              <a:t> Chave Substituta:</a:t>
            </a:r>
            <a:r>
              <a:rPr kumimoji="0" lang="pt-BR" altLang="pt-BR" sz="1400" b="0" i="0" u="none" strike="noStrike" cap="none" normalizeH="0" baseline="0" dirty="0" smtClean="0">
                <a:ln>
                  <a:noFill/>
                </a:ln>
                <a:solidFill>
                  <a:schemeClr val="tx1"/>
                </a:solidFill>
                <a:effectLst/>
                <a:latin typeface="Arial" panose="020B0604020202020204" pitchFamily="34" charset="0"/>
              </a:rPr>
              <a:t> </a:t>
            </a:r>
            <a:r>
              <a:rPr kumimoji="0" lang="pt-BR" altLang="pt-BR" sz="1400" b="0" i="0" u="none" strike="noStrike" cap="none" normalizeH="0" baseline="0" dirty="0" err="1" smtClean="0">
                <a:ln>
                  <a:noFill/>
                </a:ln>
                <a:solidFill>
                  <a:schemeClr val="tx1"/>
                </a:solidFill>
                <a:effectLst/>
                <a:latin typeface="Arial Unicode MS"/>
              </a:rPr>
              <a:t>sk_produto</a:t>
            </a:r>
            <a:r>
              <a:rPr kumimoji="0" lang="pt-BR" altLang="pt-BR" sz="1400" b="0" i="0" u="none" strike="noStrike" cap="none" normalizeH="0" baseline="0" dirty="0" smtClean="0">
                <a:ln>
                  <a:noFill/>
                </a:ln>
                <a:solidFill>
                  <a:schemeClr val="tx1"/>
                </a:solidFill>
                <a:effectLst/>
              </a:rPr>
              <a:t>.</a:t>
            </a: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8"/>
          <p:cNvSpPr txBox="1">
            <a:spLocks noGrp="1"/>
          </p:cNvSpPr>
          <p:nvPr>
            <p:ph type="title"/>
          </p:nvPr>
        </p:nvSpPr>
        <p:spPr>
          <a:xfrm>
            <a:off x="311700" y="233756"/>
            <a:ext cx="8520600" cy="591267"/>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5"/>
            </a:pPr>
            <a:r>
              <a:rPr lang="pt-BR" dirty="0"/>
              <a:t>Plano de Carga da Fato</a:t>
            </a:r>
            <a:endParaRPr dirty="0"/>
          </a:p>
        </p:txBody>
      </p:sp>
      <p:sp>
        <p:nvSpPr>
          <p:cNvPr id="2" name="Rectangle 1"/>
          <p:cNvSpPr>
            <a:spLocks noGrp="1" noChangeArrowheads="1"/>
          </p:cNvSpPr>
          <p:nvPr>
            <p:ph type="body" idx="1"/>
          </p:nvPr>
        </p:nvSpPr>
        <p:spPr bwMode="auto">
          <a:xfrm>
            <a:off x="435464" y="825023"/>
            <a:ext cx="6900422"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1" i="0" u="none" strike="noStrike" cap="none" normalizeH="0" baseline="0" dirty="0" smtClean="0">
                <a:ln>
                  <a:noFill/>
                </a:ln>
                <a:solidFill>
                  <a:schemeClr val="tx1"/>
                </a:solidFill>
                <a:effectLst/>
                <a:latin typeface="Arial" panose="020B0604020202020204" pitchFamily="34" charset="0"/>
              </a:rPr>
              <a:t>Objetivo:</a:t>
            </a:r>
            <a:r>
              <a:rPr kumimoji="0" lang="pt-BR" altLang="pt-BR" sz="1200" b="0" i="0" u="none" strike="noStrike" cap="none" normalizeH="0" baseline="0" dirty="0" smtClean="0">
                <a:ln>
                  <a:noFill/>
                </a:ln>
                <a:solidFill>
                  <a:schemeClr val="tx1"/>
                </a:solidFill>
                <a:effectLst/>
                <a:latin typeface="Arial" panose="020B0604020202020204" pitchFamily="34" charset="0"/>
              </a:rPr>
              <a:t> Consolidar as transações de venda com as chaves das dimensões.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1" i="0" u="none" strike="noStrike" cap="none" normalizeH="0" baseline="0" dirty="0" smtClean="0">
                <a:ln>
                  <a:noFill/>
                </a:ln>
                <a:solidFill>
                  <a:schemeClr val="tx1"/>
                </a:solidFill>
                <a:effectLst/>
                <a:latin typeface="Arial" panose="020B0604020202020204" pitchFamily="34" charset="0"/>
              </a:rPr>
              <a:t>Fontes de Dados:</a:t>
            </a:r>
            <a:r>
              <a:rPr kumimoji="0" lang="pt-BR" altLang="pt-BR" sz="1200" b="0" i="0" u="none" strike="noStrike" cap="none" normalizeH="0" baseline="0" dirty="0" smtClean="0">
                <a:ln>
                  <a:noFill/>
                </a:ln>
                <a:solidFill>
                  <a:schemeClr val="tx1"/>
                </a:solidFill>
                <a:effectLst/>
                <a:latin typeface="Arial" panose="020B0604020202020204" pitchFamily="34" charset="0"/>
              </a:rPr>
              <a:t> </a:t>
            </a:r>
            <a:r>
              <a:rPr kumimoji="0" lang="pt-BR" altLang="pt-BR" sz="1200" b="0" i="0" u="none" strike="noStrike" cap="none" normalizeH="0" baseline="0" dirty="0" smtClean="0">
                <a:ln>
                  <a:noFill/>
                </a:ln>
                <a:solidFill>
                  <a:schemeClr val="tx1"/>
                </a:solidFill>
                <a:effectLst/>
                <a:latin typeface="Arial Unicode MS"/>
              </a:rPr>
              <a:t>olist_orders_dataset.csv</a:t>
            </a:r>
            <a:r>
              <a:rPr kumimoji="0" lang="pt-BR" altLang="pt-BR" sz="1200" b="0" i="0" u="none" strike="noStrike" cap="none" normalizeH="0" baseline="0" dirty="0" smtClean="0">
                <a:ln>
                  <a:noFill/>
                </a:ln>
                <a:solidFill>
                  <a:schemeClr val="tx1"/>
                </a:solidFill>
                <a:effectLst/>
              </a:rPr>
              <a:t> (Cabeçalho) e </a:t>
            </a:r>
            <a:r>
              <a:rPr kumimoji="0" lang="pt-BR" altLang="pt-BR" sz="1200" b="0" i="0" u="none" strike="noStrike" cap="none" normalizeH="0" baseline="0" dirty="0" smtClean="0">
                <a:ln>
                  <a:noFill/>
                </a:ln>
                <a:solidFill>
                  <a:schemeClr val="tx1"/>
                </a:solidFill>
                <a:effectLst/>
                <a:latin typeface="Arial Unicode MS"/>
              </a:rPr>
              <a:t>olist_order_items_dataset.csv</a:t>
            </a:r>
            <a:r>
              <a:rPr kumimoji="0" lang="pt-BR" altLang="pt-BR" sz="1200" b="0" i="0" u="none" strike="noStrike" cap="none" normalizeH="0" baseline="0" dirty="0" smtClean="0">
                <a:ln>
                  <a:noFill/>
                </a:ln>
                <a:solidFill>
                  <a:schemeClr val="tx1"/>
                </a:solidFill>
                <a:effectLst/>
              </a:rPr>
              <a:t> (Detalhes).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1" i="0" u="none" strike="noStrike" cap="none" normalizeH="0" baseline="0" dirty="0" smtClean="0">
                <a:ln>
                  <a:noFill/>
                </a:ln>
                <a:solidFill>
                  <a:schemeClr val="tx1"/>
                </a:solidFill>
                <a:effectLst/>
                <a:latin typeface="Arial" panose="020B0604020202020204" pitchFamily="34" charset="0"/>
              </a:rPr>
              <a:t>Fluxo de Transformação:</a:t>
            </a:r>
            <a:endParaRPr kumimoji="0" lang="pt-BR" altLang="pt-B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pt-BR" altLang="pt-BR" sz="1200" b="1" i="0" u="none" strike="noStrike" cap="none" normalizeH="0" baseline="0" dirty="0" smtClean="0">
                <a:ln>
                  <a:noFill/>
                </a:ln>
                <a:solidFill>
                  <a:schemeClr val="tx1"/>
                </a:solidFill>
                <a:effectLst/>
                <a:latin typeface="Arial" panose="020B0604020202020204" pitchFamily="34" charset="0"/>
              </a:rPr>
              <a:t> Merge </a:t>
            </a:r>
            <a:r>
              <a:rPr kumimoji="0" lang="pt-BR" altLang="pt-BR" sz="1200" b="1" i="0" u="none" strike="noStrike" cap="none" normalizeH="0" baseline="0" dirty="0" err="1" smtClean="0">
                <a:ln>
                  <a:noFill/>
                </a:ln>
                <a:solidFill>
                  <a:schemeClr val="tx1"/>
                </a:solidFill>
                <a:effectLst/>
                <a:latin typeface="Arial" panose="020B0604020202020204" pitchFamily="34" charset="0"/>
              </a:rPr>
              <a:t>Join</a:t>
            </a:r>
            <a:r>
              <a:rPr kumimoji="0" lang="pt-BR" altLang="pt-BR" sz="1200" b="1" i="0" u="none" strike="noStrike" cap="none" normalizeH="0" baseline="0" dirty="0" smtClean="0">
                <a:ln>
                  <a:noFill/>
                </a:ln>
                <a:solidFill>
                  <a:schemeClr val="tx1"/>
                </a:solidFill>
                <a:effectLst/>
                <a:latin typeface="Arial" panose="020B0604020202020204" pitchFamily="34" charset="0"/>
              </a:rPr>
              <a:t>:</a:t>
            </a:r>
            <a:r>
              <a:rPr kumimoji="0" lang="pt-BR" altLang="pt-BR" sz="1200" b="0" i="0" u="none" strike="noStrike" cap="none" normalizeH="0" baseline="0" dirty="0" smtClean="0">
                <a:ln>
                  <a:noFill/>
                </a:ln>
                <a:solidFill>
                  <a:schemeClr val="tx1"/>
                </a:solidFill>
                <a:effectLst/>
                <a:latin typeface="Arial" panose="020B0604020202020204" pitchFamily="34" charset="0"/>
              </a:rPr>
              <a:t> Leitura e ordenação das duas fontes, seguida de junção (</a:t>
            </a:r>
            <a:r>
              <a:rPr kumimoji="0" lang="pt-BR" altLang="pt-BR" sz="1200" b="0" i="0" u="none" strike="noStrike" cap="none" normalizeH="0" baseline="0" dirty="0" err="1" smtClean="0">
                <a:ln>
                  <a:noFill/>
                </a:ln>
                <a:solidFill>
                  <a:schemeClr val="tx1"/>
                </a:solidFill>
                <a:effectLst/>
                <a:latin typeface="Arial" panose="020B0604020202020204" pitchFamily="34" charset="0"/>
              </a:rPr>
              <a:t>Inner</a:t>
            </a:r>
            <a:r>
              <a:rPr kumimoji="0" lang="pt-BR" altLang="pt-BR" sz="1200" b="0" i="0" u="none" strike="noStrike" cap="none" normalizeH="0" baseline="0" dirty="0" smtClean="0">
                <a:ln>
                  <a:noFill/>
                </a:ln>
                <a:solidFill>
                  <a:schemeClr val="tx1"/>
                </a:solidFill>
                <a:effectLst/>
                <a:latin typeface="Arial" panose="020B0604020202020204" pitchFamily="34" charset="0"/>
              </a:rPr>
              <a:t> </a:t>
            </a:r>
            <a:r>
              <a:rPr kumimoji="0" lang="pt-BR" altLang="pt-BR" sz="1200" b="0" i="0" u="none" strike="noStrike" cap="none" normalizeH="0" baseline="0" dirty="0" err="1" smtClean="0">
                <a:ln>
                  <a:noFill/>
                </a:ln>
                <a:solidFill>
                  <a:schemeClr val="tx1"/>
                </a:solidFill>
                <a:effectLst/>
                <a:latin typeface="Arial" panose="020B0604020202020204" pitchFamily="34" charset="0"/>
              </a:rPr>
              <a:t>Join</a:t>
            </a:r>
            <a:r>
              <a:rPr kumimoji="0" lang="pt-BR" altLang="pt-BR" sz="1200" b="0" i="0" u="none" strike="noStrike" cap="none" normalizeH="0" baseline="0" dirty="0" smtClean="0">
                <a:ln>
                  <a:noFill/>
                </a:ln>
                <a:solidFill>
                  <a:schemeClr val="tx1"/>
                </a:solidFill>
                <a:effectLst/>
                <a:latin typeface="Arial" panose="020B0604020202020204" pitchFamily="34" charset="0"/>
              </a:rPr>
              <a:t>) pela chave </a:t>
            </a:r>
            <a:r>
              <a:rPr kumimoji="0" lang="pt-BR" altLang="pt-BR" sz="1200" b="0" i="0" u="none" strike="noStrike" cap="none" normalizeH="0" baseline="0" dirty="0" err="1" smtClean="0">
                <a:ln>
                  <a:noFill/>
                </a:ln>
                <a:solidFill>
                  <a:schemeClr val="tx1"/>
                </a:solidFill>
                <a:effectLst/>
                <a:latin typeface="Arial Unicode MS"/>
              </a:rPr>
              <a:t>order_id</a:t>
            </a:r>
            <a:r>
              <a:rPr kumimoji="0" lang="pt-BR" altLang="pt-BR" sz="1200" b="0" i="0" u="none" strike="noStrike" cap="none" normalizeH="0" baseline="0" dirty="0" smtClean="0">
                <a:ln>
                  <a:noFill/>
                </a:ln>
                <a:solidFill>
                  <a:schemeClr val="tx1"/>
                </a:solidFill>
                <a:effectLst/>
              </a:rPr>
              <a:t> para unificar pedido e produto.</a:t>
            </a:r>
            <a:endParaRPr kumimoji="0" lang="pt-BR" altLang="pt-B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pt-BR" altLang="pt-BR" sz="1200" b="1" i="0" u="none" strike="noStrike" cap="none" normalizeH="0" baseline="0" dirty="0" smtClean="0">
                <a:ln>
                  <a:noFill/>
                </a:ln>
                <a:solidFill>
                  <a:schemeClr val="tx1"/>
                </a:solidFill>
                <a:effectLst/>
                <a:latin typeface="Arial" panose="020B0604020202020204" pitchFamily="34" charset="0"/>
              </a:rPr>
              <a:t> </a:t>
            </a:r>
            <a:r>
              <a:rPr kumimoji="0" lang="pt-BR" altLang="pt-BR" sz="1200" b="1" i="0" u="none" strike="noStrike" cap="none" normalizeH="0" baseline="0" dirty="0" err="1" smtClean="0">
                <a:ln>
                  <a:noFill/>
                </a:ln>
                <a:solidFill>
                  <a:schemeClr val="tx1"/>
                </a:solidFill>
                <a:effectLst/>
                <a:latin typeface="Arial" panose="020B0604020202020204" pitchFamily="34" charset="0"/>
              </a:rPr>
              <a:t>Select</a:t>
            </a:r>
            <a:r>
              <a:rPr kumimoji="0" lang="pt-BR" altLang="pt-BR" sz="1200" b="1" i="0" u="none" strike="noStrike" cap="none" normalizeH="0" baseline="0" dirty="0" smtClean="0">
                <a:ln>
                  <a:noFill/>
                </a:ln>
                <a:solidFill>
                  <a:schemeClr val="tx1"/>
                </a:solidFill>
                <a:effectLst/>
                <a:latin typeface="Arial" panose="020B0604020202020204" pitchFamily="34" charset="0"/>
              </a:rPr>
              <a:t> </a:t>
            </a:r>
            <a:r>
              <a:rPr kumimoji="0" lang="pt-BR" altLang="pt-BR" sz="1200" b="1" i="0" u="none" strike="noStrike" cap="none" normalizeH="0" baseline="0" dirty="0" err="1" smtClean="0">
                <a:ln>
                  <a:noFill/>
                </a:ln>
                <a:solidFill>
                  <a:schemeClr val="tx1"/>
                </a:solidFill>
                <a:effectLst/>
                <a:latin typeface="Arial" panose="020B0604020202020204" pitchFamily="34" charset="0"/>
              </a:rPr>
              <a:t>Values</a:t>
            </a:r>
            <a:r>
              <a:rPr kumimoji="0" lang="pt-BR" altLang="pt-BR" sz="1200" b="1" i="0" u="none" strike="noStrike" cap="none" normalizeH="0" baseline="0" dirty="0" smtClean="0">
                <a:ln>
                  <a:noFill/>
                </a:ln>
                <a:solidFill>
                  <a:schemeClr val="tx1"/>
                </a:solidFill>
                <a:effectLst/>
                <a:latin typeface="Arial" panose="020B0604020202020204" pitchFamily="34" charset="0"/>
              </a:rPr>
              <a:t>/</a:t>
            </a:r>
            <a:r>
              <a:rPr kumimoji="0" lang="pt-BR" altLang="pt-BR" sz="1200" b="1" i="0" u="none" strike="noStrike" cap="none" normalizeH="0" baseline="0" dirty="0" err="1" smtClean="0">
                <a:ln>
                  <a:noFill/>
                </a:ln>
                <a:solidFill>
                  <a:schemeClr val="tx1"/>
                </a:solidFill>
                <a:effectLst/>
                <a:latin typeface="Arial" panose="020B0604020202020204" pitchFamily="34" charset="0"/>
              </a:rPr>
              <a:t>Calculator</a:t>
            </a:r>
            <a:r>
              <a:rPr kumimoji="0" lang="pt-BR" altLang="pt-BR" sz="1200" b="1" i="0" u="none" strike="noStrike" cap="none" normalizeH="0" baseline="0" dirty="0" smtClean="0">
                <a:ln>
                  <a:noFill/>
                </a:ln>
                <a:solidFill>
                  <a:schemeClr val="tx1"/>
                </a:solidFill>
                <a:effectLst/>
                <a:latin typeface="Arial" panose="020B0604020202020204" pitchFamily="34" charset="0"/>
              </a:rPr>
              <a:t>:</a:t>
            </a:r>
            <a:r>
              <a:rPr kumimoji="0" lang="pt-BR" altLang="pt-BR" sz="1200" b="0" i="0" u="none" strike="noStrike" cap="none" normalizeH="0" baseline="0" dirty="0" smtClean="0">
                <a:ln>
                  <a:noFill/>
                </a:ln>
                <a:solidFill>
                  <a:schemeClr val="tx1"/>
                </a:solidFill>
                <a:effectLst/>
                <a:latin typeface="Arial" panose="020B0604020202020204" pitchFamily="34" charset="0"/>
              </a:rPr>
              <a:t> Limpeza do campo de data (remoção de hora/minuto) para garantir integridade com a Dimensão Tempo.</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pt-BR" altLang="pt-BR" sz="1200" b="1" i="0" u="none" strike="noStrike" cap="none" normalizeH="0" baseline="0" dirty="0" smtClean="0">
                <a:ln>
                  <a:noFill/>
                </a:ln>
                <a:solidFill>
                  <a:schemeClr val="tx1"/>
                </a:solidFill>
                <a:effectLst/>
                <a:latin typeface="Arial" panose="020B0604020202020204" pitchFamily="34" charset="0"/>
              </a:rPr>
              <a:t> </a:t>
            </a:r>
            <a:r>
              <a:rPr kumimoji="0" lang="pt-BR" altLang="pt-BR" sz="1200" b="1" i="0" u="none" strike="noStrike" cap="none" normalizeH="0" baseline="0" dirty="0" err="1" smtClean="0">
                <a:ln>
                  <a:noFill/>
                </a:ln>
                <a:solidFill>
                  <a:schemeClr val="tx1"/>
                </a:solidFill>
                <a:effectLst/>
                <a:latin typeface="Arial" panose="020B0604020202020204" pitchFamily="34" charset="0"/>
              </a:rPr>
              <a:t>Stream</a:t>
            </a:r>
            <a:r>
              <a:rPr kumimoji="0" lang="pt-BR" altLang="pt-BR" sz="1200" b="1" i="0" u="none" strike="noStrike" cap="none" normalizeH="0" baseline="0" dirty="0" smtClean="0">
                <a:ln>
                  <a:noFill/>
                </a:ln>
                <a:solidFill>
                  <a:schemeClr val="tx1"/>
                </a:solidFill>
                <a:effectLst/>
                <a:latin typeface="Arial" panose="020B0604020202020204" pitchFamily="34" charset="0"/>
              </a:rPr>
              <a:t> </a:t>
            </a:r>
            <a:r>
              <a:rPr kumimoji="0" lang="pt-BR" altLang="pt-BR" sz="1200" b="1" i="0" u="none" strike="noStrike" cap="none" normalizeH="0" baseline="0" dirty="0" err="1" smtClean="0">
                <a:ln>
                  <a:noFill/>
                </a:ln>
                <a:solidFill>
                  <a:schemeClr val="tx1"/>
                </a:solidFill>
                <a:effectLst/>
                <a:latin typeface="Arial" panose="020B0604020202020204" pitchFamily="34" charset="0"/>
              </a:rPr>
              <a:t>Lookup</a:t>
            </a:r>
            <a:r>
              <a:rPr kumimoji="0" lang="pt-BR" altLang="pt-BR" sz="1200" b="1" i="0" u="none" strike="noStrike" cap="none" normalizeH="0" baseline="0" dirty="0" smtClean="0">
                <a:ln>
                  <a:noFill/>
                </a:ln>
                <a:solidFill>
                  <a:schemeClr val="tx1"/>
                </a:solidFill>
                <a:effectLst/>
                <a:latin typeface="Arial" panose="020B0604020202020204" pitchFamily="34" charset="0"/>
              </a:rPr>
              <a:t>:</a:t>
            </a:r>
            <a:r>
              <a:rPr kumimoji="0" lang="pt-BR" altLang="pt-BR" sz="1200" b="0" i="0" u="none" strike="noStrike" cap="none" normalizeH="0" baseline="0" dirty="0" smtClean="0">
                <a:ln>
                  <a:noFill/>
                </a:ln>
                <a:solidFill>
                  <a:schemeClr val="tx1"/>
                </a:solidFill>
                <a:effectLst/>
                <a:latin typeface="Arial" panose="020B0604020202020204" pitchFamily="34" charset="0"/>
              </a:rPr>
              <a:t> "Ponte" para traduzir o </a:t>
            </a:r>
            <a:r>
              <a:rPr kumimoji="0" lang="pt-BR" altLang="pt-BR" sz="1200" b="0" i="0" u="none" strike="noStrike" cap="none" normalizeH="0" baseline="0" dirty="0" err="1" smtClean="0">
                <a:ln>
                  <a:noFill/>
                </a:ln>
                <a:solidFill>
                  <a:schemeClr val="tx1"/>
                </a:solidFill>
                <a:effectLst/>
                <a:latin typeface="Arial Unicode MS"/>
              </a:rPr>
              <a:t>customer_id</a:t>
            </a:r>
            <a:r>
              <a:rPr kumimoji="0" lang="pt-BR" altLang="pt-BR" sz="1200" b="0" i="0" u="none" strike="noStrike" cap="none" normalizeH="0" baseline="0" dirty="0" smtClean="0">
                <a:ln>
                  <a:noFill/>
                </a:ln>
                <a:solidFill>
                  <a:schemeClr val="tx1"/>
                </a:solidFill>
                <a:effectLst/>
              </a:rPr>
              <a:t> (do pedido) para o </a:t>
            </a:r>
            <a:r>
              <a:rPr kumimoji="0" lang="pt-BR" altLang="pt-BR" sz="1200" b="0" i="0" u="none" strike="noStrike" cap="none" normalizeH="0" baseline="0" dirty="0" err="1" smtClean="0">
                <a:ln>
                  <a:noFill/>
                </a:ln>
                <a:solidFill>
                  <a:schemeClr val="tx1"/>
                </a:solidFill>
                <a:effectLst/>
                <a:latin typeface="Arial Unicode MS"/>
              </a:rPr>
              <a:t>customer_unique_id</a:t>
            </a:r>
            <a:r>
              <a:rPr kumimoji="0" lang="pt-BR" altLang="pt-BR" sz="1200" b="0" i="0" u="none" strike="noStrike" cap="none" normalizeH="0" baseline="0" dirty="0" smtClean="0">
                <a:ln>
                  <a:noFill/>
                </a:ln>
                <a:solidFill>
                  <a:schemeClr val="tx1"/>
                </a:solidFill>
                <a:effectLst/>
              </a:rPr>
              <a:t> (do cadastro único), utilizando o arquivo de clientes como </a:t>
            </a:r>
            <a:r>
              <a:rPr kumimoji="0" lang="pt-BR" altLang="pt-BR" sz="1200" b="0" i="0" u="none" strike="noStrike" cap="none" normalizeH="0" baseline="0" dirty="0" err="1" smtClean="0">
                <a:ln>
                  <a:noFill/>
                </a:ln>
                <a:solidFill>
                  <a:schemeClr val="tx1"/>
                </a:solidFill>
                <a:effectLst/>
              </a:rPr>
              <a:t>lookup</a:t>
            </a:r>
            <a:r>
              <a:rPr kumimoji="0" lang="pt-BR" altLang="pt-BR" sz="1200" b="0" i="0" u="none" strike="noStrike" cap="none" normalizeH="0" baseline="0" dirty="0" smtClean="0">
                <a:ln>
                  <a:noFill/>
                </a:ln>
                <a:solidFill>
                  <a:schemeClr val="tx1"/>
                </a:solidFill>
                <a:effectLst/>
              </a:rPr>
              <a:t> em memória.</a:t>
            </a:r>
            <a:endParaRPr kumimoji="0" lang="pt-BR" altLang="pt-B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pt-BR" altLang="pt-BR" sz="1200" b="1" i="0" u="none" strike="noStrike" cap="none" normalizeH="0" baseline="0" dirty="0" smtClean="0">
                <a:ln>
                  <a:noFill/>
                </a:ln>
                <a:solidFill>
                  <a:schemeClr val="tx1"/>
                </a:solidFill>
                <a:effectLst/>
                <a:latin typeface="Arial" panose="020B0604020202020204" pitchFamily="34" charset="0"/>
              </a:rPr>
              <a:t> </a:t>
            </a:r>
            <a:r>
              <a:rPr kumimoji="0" lang="pt-BR" altLang="pt-BR" sz="1200" b="1" i="0" u="none" strike="noStrike" cap="none" normalizeH="0" baseline="0" dirty="0" err="1" smtClean="0">
                <a:ln>
                  <a:noFill/>
                </a:ln>
                <a:solidFill>
                  <a:schemeClr val="tx1"/>
                </a:solidFill>
                <a:effectLst/>
                <a:latin typeface="Arial" panose="020B0604020202020204" pitchFamily="34" charset="0"/>
              </a:rPr>
              <a:t>Database</a:t>
            </a:r>
            <a:r>
              <a:rPr kumimoji="0" lang="pt-BR" altLang="pt-BR" sz="1200" b="1" i="0" u="none" strike="noStrike" cap="none" normalizeH="0" baseline="0" dirty="0" smtClean="0">
                <a:ln>
                  <a:noFill/>
                </a:ln>
                <a:solidFill>
                  <a:schemeClr val="tx1"/>
                </a:solidFill>
                <a:effectLst/>
                <a:latin typeface="Arial" panose="020B0604020202020204" pitchFamily="34" charset="0"/>
              </a:rPr>
              <a:t> </a:t>
            </a:r>
            <a:r>
              <a:rPr kumimoji="0" lang="pt-BR" altLang="pt-BR" sz="1200" b="1" i="0" u="none" strike="noStrike" cap="none" normalizeH="0" baseline="0" dirty="0" err="1" smtClean="0">
                <a:ln>
                  <a:noFill/>
                </a:ln>
                <a:solidFill>
                  <a:schemeClr val="tx1"/>
                </a:solidFill>
                <a:effectLst/>
                <a:latin typeface="Arial" panose="020B0604020202020204" pitchFamily="34" charset="0"/>
              </a:rPr>
              <a:t>Lookups</a:t>
            </a:r>
            <a:r>
              <a:rPr kumimoji="0" lang="pt-BR" altLang="pt-BR" sz="1200" b="1" i="0" u="none" strike="noStrike" cap="none" normalizeH="0" baseline="0" dirty="0" smtClean="0">
                <a:ln>
                  <a:noFill/>
                </a:ln>
                <a:solidFill>
                  <a:schemeClr val="tx1"/>
                </a:solidFill>
                <a:effectLst/>
                <a:latin typeface="Arial" panose="020B0604020202020204" pitchFamily="34" charset="0"/>
              </a:rPr>
              <a:t> (Sequenciais):</a:t>
            </a:r>
            <a:r>
              <a:rPr kumimoji="0" lang="pt-BR" altLang="pt-BR" sz="1200" b="0" i="0" u="none" strike="noStrike" cap="none" normalizeH="0" baseline="0" dirty="0" smtClean="0">
                <a:ln>
                  <a:noFill/>
                </a:ln>
                <a:solidFill>
                  <a:schemeClr val="tx1"/>
                </a:solidFill>
                <a:effectLst/>
                <a:latin typeface="Arial" panose="020B0604020202020204" pitchFamily="34" charset="0"/>
              </a:rPr>
              <a:t> Busca das chaves substitutas (</a:t>
            </a:r>
            <a:r>
              <a:rPr kumimoji="0" lang="pt-BR" altLang="pt-BR" sz="1200" b="0" i="0" u="none" strike="noStrike" cap="none" normalizeH="0" baseline="0" dirty="0" err="1" smtClean="0">
                <a:ln>
                  <a:noFill/>
                </a:ln>
                <a:solidFill>
                  <a:schemeClr val="tx1"/>
                </a:solidFill>
                <a:effectLst/>
                <a:latin typeface="Arial" panose="020B0604020202020204" pitchFamily="34" charset="0"/>
              </a:rPr>
              <a:t>SKs</a:t>
            </a:r>
            <a:r>
              <a:rPr kumimoji="0" lang="pt-BR" altLang="pt-BR" sz="1200" b="0" i="0" u="none" strike="noStrike" cap="none" normalizeH="0" baseline="0" dirty="0" smtClean="0">
                <a:ln>
                  <a:noFill/>
                </a:ln>
                <a:solidFill>
                  <a:schemeClr val="tx1"/>
                </a:solidFill>
                <a:effectLst/>
                <a:latin typeface="Arial" panose="020B0604020202020204" pitchFamily="34" charset="0"/>
              </a:rPr>
              <a:t>) no Banco de Dados: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BR" altLang="pt-BR" sz="1200" b="0" i="0" u="none" strike="noStrike" cap="none" normalizeH="0" baseline="0" dirty="0" smtClean="0">
                <a:ln>
                  <a:noFill/>
                </a:ln>
                <a:solidFill>
                  <a:schemeClr val="tx1"/>
                </a:solidFill>
                <a:effectLst/>
                <a:latin typeface="Arial" panose="020B0604020202020204" pitchFamily="34" charset="0"/>
              </a:rPr>
              <a:t>Busca </a:t>
            </a:r>
            <a:r>
              <a:rPr kumimoji="0" lang="pt-BR" altLang="pt-BR" sz="1200" b="0" i="0" u="none" strike="noStrike" cap="none" normalizeH="0" baseline="0" dirty="0" err="1" smtClean="0">
                <a:ln>
                  <a:noFill/>
                </a:ln>
                <a:solidFill>
                  <a:schemeClr val="tx1"/>
                </a:solidFill>
                <a:effectLst/>
                <a:latin typeface="Arial Unicode MS"/>
              </a:rPr>
              <a:t>sk_cliente</a:t>
            </a:r>
            <a:r>
              <a:rPr kumimoji="0" lang="pt-BR" altLang="pt-BR" sz="1200" b="0" i="0" u="none" strike="noStrike" cap="none" normalizeH="0" baseline="0" dirty="0" smtClean="0">
                <a:ln>
                  <a:noFill/>
                </a:ln>
                <a:solidFill>
                  <a:schemeClr val="tx1"/>
                </a:solidFill>
                <a:effectLst/>
              </a:rPr>
              <a:t> na </a:t>
            </a:r>
            <a:r>
              <a:rPr kumimoji="0" lang="pt-BR" altLang="pt-BR" sz="1200" b="0" i="0" u="none" strike="noStrike" cap="none" normalizeH="0" baseline="0" dirty="0" err="1" smtClean="0">
                <a:ln>
                  <a:noFill/>
                </a:ln>
                <a:solidFill>
                  <a:schemeClr val="tx1"/>
                </a:solidFill>
                <a:effectLst/>
                <a:latin typeface="Arial Unicode MS"/>
              </a:rPr>
              <a:t>dim_cliente</a:t>
            </a:r>
            <a:r>
              <a:rPr kumimoji="0" lang="pt-BR" altLang="pt-BR" sz="1200" b="0" i="0" u="none" strike="noStrike" cap="none" normalizeH="0" baseline="0" dirty="0" smtClean="0">
                <a:ln>
                  <a:noFill/>
                </a:ln>
                <a:solidFill>
                  <a:schemeClr val="tx1"/>
                </a:solidFill>
                <a:effectLst/>
              </a:rPr>
              <a:t>.</a:t>
            </a:r>
            <a:endParaRPr kumimoji="0" lang="pt-BR" altLang="pt-BR" sz="12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BR" altLang="pt-BR" sz="1200" b="0" i="0" u="none" strike="noStrike" cap="none" normalizeH="0" baseline="0" dirty="0" smtClean="0">
                <a:ln>
                  <a:noFill/>
                </a:ln>
                <a:solidFill>
                  <a:schemeClr val="tx1"/>
                </a:solidFill>
                <a:effectLst/>
                <a:latin typeface="Arial" panose="020B0604020202020204" pitchFamily="34" charset="0"/>
              </a:rPr>
              <a:t>Busca </a:t>
            </a:r>
            <a:r>
              <a:rPr kumimoji="0" lang="pt-BR" altLang="pt-BR" sz="1200" b="0" i="0" u="none" strike="noStrike" cap="none" normalizeH="0" baseline="0" dirty="0" err="1" smtClean="0">
                <a:ln>
                  <a:noFill/>
                </a:ln>
                <a:solidFill>
                  <a:schemeClr val="tx1"/>
                </a:solidFill>
                <a:effectLst/>
                <a:latin typeface="Arial Unicode MS"/>
              </a:rPr>
              <a:t>sk_produto</a:t>
            </a:r>
            <a:r>
              <a:rPr kumimoji="0" lang="pt-BR" altLang="pt-BR" sz="1200" b="0" i="0" u="none" strike="noStrike" cap="none" normalizeH="0" baseline="0" dirty="0" smtClean="0">
                <a:ln>
                  <a:noFill/>
                </a:ln>
                <a:solidFill>
                  <a:schemeClr val="tx1"/>
                </a:solidFill>
                <a:effectLst/>
              </a:rPr>
              <a:t> na </a:t>
            </a:r>
            <a:r>
              <a:rPr kumimoji="0" lang="pt-BR" altLang="pt-BR" sz="1200" b="0" i="0" u="none" strike="noStrike" cap="none" normalizeH="0" baseline="0" dirty="0" err="1" smtClean="0">
                <a:ln>
                  <a:noFill/>
                </a:ln>
                <a:solidFill>
                  <a:schemeClr val="tx1"/>
                </a:solidFill>
                <a:effectLst/>
                <a:latin typeface="Arial Unicode MS"/>
              </a:rPr>
              <a:t>dim_produto</a:t>
            </a:r>
            <a:r>
              <a:rPr kumimoji="0" lang="pt-BR" altLang="pt-BR" sz="1200" b="0" i="0" u="none" strike="noStrike" cap="none" normalizeH="0" baseline="0" dirty="0" smtClean="0">
                <a:ln>
                  <a:noFill/>
                </a:ln>
                <a:solidFill>
                  <a:schemeClr val="tx1"/>
                </a:solidFill>
                <a:effectLst/>
              </a:rPr>
              <a:t>.</a:t>
            </a:r>
            <a:endParaRPr kumimoji="0" lang="pt-BR" altLang="pt-BR" sz="12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t-BR" altLang="pt-BR" sz="1200" b="0" i="0" u="none" strike="noStrike" cap="none" normalizeH="0" baseline="0" dirty="0" smtClean="0">
                <a:ln>
                  <a:noFill/>
                </a:ln>
                <a:solidFill>
                  <a:schemeClr val="tx1"/>
                </a:solidFill>
                <a:effectLst/>
                <a:latin typeface="Arial" panose="020B0604020202020204" pitchFamily="34" charset="0"/>
              </a:rPr>
              <a:t>Busca </a:t>
            </a:r>
            <a:r>
              <a:rPr kumimoji="0" lang="pt-BR" altLang="pt-BR" sz="1200" b="0" i="0" u="none" strike="noStrike" cap="none" normalizeH="0" baseline="0" dirty="0" err="1" smtClean="0">
                <a:ln>
                  <a:noFill/>
                </a:ln>
                <a:solidFill>
                  <a:schemeClr val="tx1"/>
                </a:solidFill>
                <a:effectLst/>
                <a:latin typeface="Arial Unicode MS"/>
              </a:rPr>
              <a:t>sk_tempo</a:t>
            </a:r>
            <a:r>
              <a:rPr kumimoji="0" lang="pt-BR" altLang="pt-BR" sz="1200" b="0" i="0" u="none" strike="noStrike" cap="none" normalizeH="0" baseline="0" dirty="0" smtClean="0">
                <a:ln>
                  <a:noFill/>
                </a:ln>
                <a:solidFill>
                  <a:schemeClr val="tx1"/>
                </a:solidFill>
                <a:effectLst/>
              </a:rPr>
              <a:t> na </a:t>
            </a:r>
            <a:r>
              <a:rPr kumimoji="0" lang="pt-BR" altLang="pt-BR" sz="1200" b="0" i="0" u="none" strike="noStrike" cap="none" normalizeH="0" baseline="0" dirty="0" err="1" smtClean="0">
                <a:ln>
                  <a:noFill/>
                </a:ln>
                <a:solidFill>
                  <a:schemeClr val="tx1"/>
                </a:solidFill>
                <a:effectLst/>
                <a:latin typeface="Arial Unicode MS"/>
              </a:rPr>
              <a:t>dim_tempo</a:t>
            </a:r>
            <a:r>
              <a:rPr kumimoji="0" lang="pt-BR" altLang="pt-BR" sz="1200" b="0" i="0" u="none" strike="noStrike" cap="none" normalizeH="0" baseline="0" dirty="0" smtClean="0">
                <a:ln>
                  <a:noFill/>
                </a:ln>
                <a:solidFill>
                  <a:schemeClr val="tx1"/>
                </a:solidFill>
                <a:effectLst/>
              </a:rPr>
              <a:t>. </a:t>
            </a:r>
          </a:p>
          <a:p>
            <a:pPr marL="457200" marR="0" lvl="1" indent="-457200" algn="l" defTabSz="914400" rtl="0" eaLnBrk="0" fontAlgn="base" latinLnBrk="0" hangingPunct="0">
              <a:lnSpc>
                <a:spcPct val="100000"/>
              </a:lnSpc>
              <a:spcBef>
                <a:spcPct val="0"/>
              </a:spcBef>
              <a:spcAft>
                <a:spcPct val="0"/>
              </a:spcAft>
              <a:buClrTx/>
              <a:buSzTx/>
              <a:buNone/>
              <a:tabLst/>
            </a:pPr>
            <a:r>
              <a:rPr kumimoji="0" lang="pt-BR" altLang="pt-BR" sz="1200" b="1" i="0" u="none" strike="noStrike" cap="none" normalizeH="0" baseline="0" dirty="0" smtClean="0">
                <a:ln>
                  <a:noFill/>
                </a:ln>
                <a:solidFill>
                  <a:schemeClr val="tx1"/>
                </a:solidFill>
                <a:effectLst/>
                <a:latin typeface="Arial" panose="020B0604020202020204" pitchFamily="34" charset="0"/>
              </a:rPr>
              <a:t>Carga:</a:t>
            </a:r>
            <a:endParaRPr kumimoji="0" lang="pt-BR" altLang="pt-B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200" b="1" i="0" u="none" strike="noStrike" cap="none" normalizeH="0" baseline="0" dirty="0" smtClean="0">
                <a:ln>
                  <a:noFill/>
                </a:ln>
                <a:solidFill>
                  <a:schemeClr val="tx1"/>
                </a:solidFill>
                <a:effectLst/>
                <a:latin typeface="Arial" panose="020B0604020202020204" pitchFamily="34" charset="0"/>
              </a:rPr>
              <a:t> </a:t>
            </a:r>
            <a:r>
              <a:rPr kumimoji="0" lang="pt-BR" altLang="pt-BR" sz="1200" b="1" i="0" u="none" strike="noStrike" cap="none" normalizeH="0" baseline="0" dirty="0" err="1" smtClean="0">
                <a:ln>
                  <a:noFill/>
                </a:ln>
                <a:solidFill>
                  <a:schemeClr val="tx1"/>
                </a:solidFill>
                <a:effectLst/>
                <a:latin typeface="Arial" panose="020B0604020202020204" pitchFamily="34" charset="0"/>
              </a:rPr>
              <a:t>Step</a:t>
            </a:r>
            <a:r>
              <a:rPr kumimoji="0" lang="pt-BR" altLang="pt-BR" sz="1200" b="1" i="0" u="none" strike="noStrike" cap="none" normalizeH="0" baseline="0" dirty="0" smtClean="0">
                <a:ln>
                  <a:noFill/>
                </a:ln>
                <a:solidFill>
                  <a:schemeClr val="tx1"/>
                </a:solidFill>
                <a:effectLst/>
                <a:latin typeface="Arial" panose="020B0604020202020204" pitchFamily="34" charset="0"/>
              </a:rPr>
              <a:t>:</a:t>
            </a:r>
            <a:r>
              <a:rPr kumimoji="0" lang="pt-BR" altLang="pt-BR" sz="1200" b="0" i="0" u="none" strike="noStrike" cap="none" normalizeH="0" baseline="0" dirty="0" smtClean="0">
                <a:ln>
                  <a:noFill/>
                </a:ln>
                <a:solidFill>
                  <a:schemeClr val="tx1"/>
                </a:solidFill>
                <a:effectLst/>
                <a:latin typeface="Arial" panose="020B0604020202020204" pitchFamily="34" charset="0"/>
              </a:rPr>
              <a:t> </a:t>
            </a:r>
            <a:r>
              <a:rPr kumimoji="0" lang="pt-BR" altLang="pt-BR" sz="1200" b="0" i="0" u="none" strike="noStrike" cap="none" normalizeH="0" baseline="0" dirty="0" err="1" smtClean="0">
                <a:ln>
                  <a:noFill/>
                </a:ln>
                <a:solidFill>
                  <a:schemeClr val="tx1"/>
                </a:solidFill>
                <a:effectLst/>
                <a:latin typeface="Arial" panose="020B0604020202020204" pitchFamily="34" charset="0"/>
              </a:rPr>
              <a:t>Table</a:t>
            </a:r>
            <a:r>
              <a:rPr kumimoji="0" lang="pt-BR" altLang="pt-BR" sz="1200" b="0" i="0" u="none" strike="noStrike" cap="none" normalizeH="0" baseline="0" dirty="0" smtClean="0">
                <a:ln>
                  <a:noFill/>
                </a:ln>
                <a:solidFill>
                  <a:schemeClr val="tx1"/>
                </a:solidFill>
                <a:effectLst/>
                <a:latin typeface="Arial" panose="020B0604020202020204" pitchFamily="34" charset="0"/>
              </a:rPr>
              <a:t>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200" b="1" i="0" u="none" strike="noStrike" cap="none" normalizeH="0" baseline="0" dirty="0" smtClean="0">
                <a:ln>
                  <a:noFill/>
                </a:ln>
                <a:solidFill>
                  <a:schemeClr val="tx1"/>
                </a:solidFill>
                <a:effectLst/>
                <a:latin typeface="Arial" panose="020B0604020202020204" pitchFamily="34" charset="0"/>
              </a:rPr>
              <a:t> Tabela Alvo:</a:t>
            </a:r>
            <a:r>
              <a:rPr kumimoji="0" lang="pt-BR" altLang="pt-BR" sz="1200" b="0" i="0" u="none" strike="noStrike" cap="none" normalizeH="0" baseline="0" dirty="0" smtClean="0">
                <a:ln>
                  <a:noFill/>
                </a:ln>
                <a:solidFill>
                  <a:schemeClr val="tx1"/>
                </a:solidFill>
                <a:effectLst/>
                <a:latin typeface="Arial" panose="020B0604020202020204" pitchFamily="34" charset="0"/>
              </a:rPr>
              <a:t> </a:t>
            </a:r>
            <a:r>
              <a:rPr kumimoji="0" lang="pt-BR" altLang="pt-BR" sz="1200" b="0" i="0" u="none" strike="noStrike" cap="none" normalizeH="0" baseline="0" dirty="0" err="1" smtClean="0">
                <a:ln>
                  <a:noFill/>
                </a:ln>
                <a:solidFill>
                  <a:schemeClr val="tx1"/>
                </a:solidFill>
                <a:effectLst/>
                <a:latin typeface="Arial Unicode MS"/>
              </a:rPr>
              <a:t>fato_vendas</a:t>
            </a:r>
            <a:r>
              <a:rPr kumimoji="0" lang="pt-BR" altLang="pt-BR" sz="1200" b="0" i="0" u="none" strike="noStrike" cap="none" normalizeH="0" baseline="0" dirty="0" smtClean="0">
                <a:ln>
                  <a:noFill/>
                </a:ln>
                <a:solidFill>
                  <a:schemeClr val="tx1"/>
                </a:solidFill>
                <a:effectLst/>
              </a:rPr>
              <a:t>.</a:t>
            </a:r>
            <a:endParaRPr kumimoji="0" lang="pt-BR" altLang="pt-B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200" b="1" i="0" u="none" strike="noStrike" cap="none" normalizeH="0" baseline="0" dirty="0" smtClean="0">
                <a:ln>
                  <a:noFill/>
                </a:ln>
                <a:solidFill>
                  <a:schemeClr val="tx1"/>
                </a:solidFill>
                <a:effectLst/>
                <a:latin typeface="Arial" panose="020B0604020202020204" pitchFamily="34" charset="0"/>
              </a:rPr>
              <a:t> Método:</a:t>
            </a:r>
            <a:r>
              <a:rPr kumimoji="0" lang="pt-BR" altLang="pt-BR" sz="1200" b="0" i="0" u="none" strike="noStrike" cap="none" normalizeH="0" baseline="0" dirty="0" smtClean="0">
                <a:ln>
                  <a:noFill/>
                </a:ln>
                <a:solidFill>
                  <a:schemeClr val="tx1"/>
                </a:solidFill>
                <a:effectLst/>
                <a:latin typeface="Arial" panose="020B0604020202020204" pitchFamily="34" charset="0"/>
              </a:rPr>
              <a:t> </a:t>
            </a:r>
            <a:r>
              <a:rPr kumimoji="0" lang="pt-BR" altLang="pt-BR" sz="1200" b="0" i="0" u="none" strike="noStrike" cap="none" normalizeH="0" baseline="0" dirty="0" err="1" smtClean="0">
                <a:ln>
                  <a:noFill/>
                </a:ln>
                <a:solidFill>
                  <a:schemeClr val="tx1"/>
                </a:solidFill>
                <a:effectLst/>
                <a:latin typeface="Arial" panose="020B0604020202020204" pitchFamily="34" charset="0"/>
              </a:rPr>
              <a:t>Insert</a:t>
            </a:r>
            <a:r>
              <a:rPr kumimoji="0" lang="pt-BR" altLang="pt-BR" sz="1200" b="0" i="0" u="none" strike="noStrike" cap="none" normalizeH="0" baseline="0" dirty="0" smtClean="0">
                <a:ln>
                  <a:noFill/>
                </a:ln>
                <a:solidFill>
                  <a:schemeClr val="tx1"/>
                </a:solidFill>
                <a:effectLst/>
                <a:latin typeface="Arial" panose="020B0604020202020204" pitchFamily="34" charset="0"/>
              </a:rPr>
              <a:t> com </a:t>
            </a:r>
            <a:r>
              <a:rPr kumimoji="0" lang="pt-BR" altLang="pt-BR" sz="1200" b="0" i="0" u="none" strike="noStrike" cap="none" normalizeH="0" baseline="0" dirty="0" err="1" smtClean="0">
                <a:ln>
                  <a:noFill/>
                </a:ln>
                <a:solidFill>
                  <a:schemeClr val="tx1"/>
                </a:solidFill>
                <a:effectLst/>
                <a:latin typeface="Arial" panose="020B0604020202020204" pitchFamily="34" charset="0"/>
              </a:rPr>
              <a:t>Truncate</a:t>
            </a:r>
            <a:r>
              <a:rPr kumimoji="0" lang="pt-BR" altLang="pt-BR" sz="1200" b="0" i="0" u="none" strike="noStrike" cap="none" normalizeH="0" baseline="0" dirty="0" smtClean="0">
                <a:ln>
                  <a:noFill/>
                </a:ln>
                <a:solidFill>
                  <a:schemeClr val="tx1"/>
                </a:solidFill>
                <a:effectLst/>
                <a:latin typeface="Arial" panose="020B0604020202020204" pitchFamily="34" charset="0"/>
              </a:rPr>
              <a:t> (limpeza prévia da tabela para evitar duplicidade em recargas de desenvolvimento).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207"/>
        <p:cNvGrpSpPr/>
        <p:nvPr/>
      </p:nvGrpSpPr>
      <p:grpSpPr>
        <a:xfrm>
          <a:off x="0" y="0"/>
          <a:ext cx="0" cy="0"/>
          <a:chOff x="0" y="0"/>
          <a:chExt cx="0" cy="0"/>
        </a:xfrm>
      </p:grpSpPr>
      <p:sp>
        <p:nvSpPr>
          <p:cNvPr id="208" name="Google Shape;208;p39"/>
          <p:cNvSpPr txBox="1">
            <a:spLocks noGrp="1"/>
          </p:cNvSpPr>
          <p:nvPr>
            <p:ph type="title"/>
          </p:nvPr>
        </p:nvSpPr>
        <p:spPr>
          <a:xfrm>
            <a:off x="311700" y="1702550"/>
            <a:ext cx="8520600" cy="12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pt-BR"/>
              <a:t>ETAPA 6 - APLICAÇÃO OLAP e PAINEL DE BORDO</a:t>
            </a:r>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6"/>
            </a:pPr>
            <a:r>
              <a:rPr lang="pt-BR" dirty="0"/>
              <a:t>Consulta OLAP 1</a:t>
            </a:r>
            <a:endParaRPr dirty="0"/>
          </a:p>
        </p:txBody>
      </p:sp>
      <p:sp>
        <p:nvSpPr>
          <p:cNvPr id="214" name="Google Shape;214;p40"/>
          <p:cNvSpPr txBox="1">
            <a:spLocks noGrp="1"/>
          </p:cNvSpPr>
          <p:nvPr>
            <p:ph type="body" idx="1"/>
          </p:nvPr>
        </p:nvSpPr>
        <p:spPr>
          <a:xfrm>
            <a:off x="311700" y="1152475"/>
            <a:ext cx="3957792" cy="3416400"/>
          </a:xfrm>
          <a:prstGeom prst="rect">
            <a:avLst/>
          </a:prstGeom>
        </p:spPr>
        <p:txBody>
          <a:bodyPr spcFirstLastPara="1" wrap="square" lIns="91425" tIns="91425" rIns="91425" bIns="91425" anchor="t" anchorCtr="0">
            <a:noAutofit/>
          </a:bodyPr>
          <a:lstStyle/>
          <a:p>
            <a:pPr lvl="0" indent="-457200">
              <a:buNone/>
            </a:pPr>
            <a:r>
              <a:rPr lang="pt-BR" dirty="0"/>
              <a:t>Análise de Performance por </a:t>
            </a:r>
            <a:r>
              <a:rPr lang="pt-BR" dirty="0" smtClean="0"/>
              <a:t>Produto</a:t>
            </a:r>
          </a:p>
          <a:p>
            <a:pPr marL="0" lvl="0" indent="0" algn="just">
              <a:buNone/>
            </a:pPr>
            <a:r>
              <a:rPr lang="pt-BR" sz="1400" dirty="0"/>
              <a:t>Identificou-se que as categorias </a:t>
            </a:r>
            <a:r>
              <a:rPr lang="pt-BR" sz="1400" b="1" dirty="0"/>
              <a:t>"Beleza e Saúde"</a:t>
            </a:r>
            <a:r>
              <a:rPr lang="pt-BR" sz="1400" dirty="0"/>
              <a:t>, </a:t>
            </a:r>
            <a:r>
              <a:rPr lang="pt-BR" sz="1400" b="1" dirty="0"/>
              <a:t>"Relógios e Presentes"</a:t>
            </a:r>
            <a:r>
              <a:rPr lang="pt-BR" sz="1400" dirty="0"/>
              <a:t> e </a:t>
            </a:r>
            <a:r>
              <a:rPr lang="pt-BR" sz="1400" b="1" dirty="0"/>
              <a:t>"Cama, Mesa e Banho"</a:t>
            </a:r>
            <a:r>
              <a:rPr lang="pt-BR" sz="1400" dirty="0"/>
              <a:t> são os </a:t>
            </a:r>
            <a:r>
              <a:rPr lang="pt-BR" sz="1400" dirty="0" err="1"/>
              <a:t>carros-chefe</a:t>
            </a:r>
            <a:r>
              <a:rPr lang="pt-BR" sz="1400" dirty="0"/>
              <a:t> da empresa, representando a maior fatia da receita bruta no período analisado.</a:t>
            </a:r>
            <a:endParaRPr lang="pt-BR" sz="1400" dirty="0" smtClean="0"/>
          </a:p>
          <a:p>
            <a:pPr lvl="0" indent="-457200">
              <a:buNone/>
            </a:pPr>
            <a:endParaRPr lang="pt-BR" dirty="0" smtClean="0"/>
          </a:p>
          <a:p>
            <a:pPr lvl="0" indent="-457200">
              <a:buNone/>
            </a:pPr>
            <a:endParaRPr dirty="0"/>
          </a:p>
        </p:txBody>
      </p:sp>
      <p:pic>
        <p:nvPicPr>
          <p:cNvPr id="3" name="Imagem 2"/>
          <p:cNvPicPr>
            <a:picLocks noChangeAspect="1"/>
          </p:cNvPicPr>
          <p:nvPr/>
        </p:nvPicPr>
        <p:blipFill>
          <a:blip r:embed="rId3"/>
          <a:stretch>
            <a:fillRect/>
          </a:stretch>
        </p:blipFill>
        <p:spPr>
          <a:xfrm>
            <a:off x="4186990" y="1316741"/>
            <a:ext cx="4733046" cy="3303385"/>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6"/>
            </a:pPr>
            <a:r>
              <a:rPr lang="pt-BR"/>
              <a:t>Consulta OLAP 2</a:t>
            </a:r>
            <a:endParaRPr/>
          </a:p>
        </p:txBody>
      </p:sp>
      <p:pic>
        <p:nvPicPr>
          <p:cNvPr id="2" name="Imagem 1"/>
          <p:cNvPicPr>
            <a:picLocks noChangeAspect="1"/>
          </p:cNvPicPr>
          <p:nvPr/>
        </p:nvPicPr>
        <p:blipFill>
          <a:blip r:embed="rId3"/>
          <a:stretch>
            <a:fillRect/>
          </a:stretch>
        </p:blipFill>
        <p:spPr>
          <a:xfrm>
            <a:off x="4247648" y="1602190"/>
            <a:ext cx="4584652" cy="3017936"/>
          </a:xfrm>
          <a:prstGeom prst="rect">
            <a:avLst/>
          </a:prstGeom>
        </p:spPr>
      </p:pic>
      <p:sp>
        <p:nvSpPr>
          <p:cNvPr id="220" name="Google Shape;220;p41"/>
          <p:cNvSpPr txBox="1">
            <a:spLocks noGrp="1"/>
          </p:cNvSpPr>
          <p:nvPr>
            <p:ph type="body" idx="1"/>
          </p:nvPr>
        </p:nvSpPr>
        <p:spPr>
          <a:xfrm>
            <a:off x="311700" y="1152475"/>
            <a:ext cx="8653546" cy="3536403"/>
          </a:xfrm>
          <a:prstGeom prst="rect">
            <a:avLst/>
          </a:prstGeom>
        </p:spPr>
        <p:txBody>
          <a:bodyPr spcFirstLastPara="1" wrap="square" lIns="91425" tIns="91425" rIns="91425" bIns="91425" anchor="t" anchorCtr="0">
            <a:noAutofit/>
          </a:bodyPr>
          <a:lstStyle/>
          <a:p>
            <a:pPr lvl="0" indent="-457200">
              <a:buNone/>
            </a:pPr>
            <a:r>
              <a:rPr lang="pt-BR" dirty="0"/>
              <a:t>Análise Temporal de </a:t>
            </a:r>
            <a:r>
              <a:rPr lang="pt-BR" dirty="0" smtClean="0"/>
              <a:t>Vendas </a:t>
            </a:r>
            <a:r>
              <a:rPr lang="pt-BR" dirty="0"/>
              <a:t>(Sazonalidade</a:t>
            </a:r>
            <a:r>
              <a:rPr lang="pt-BR" dirty="0" smtClean="0"/>
              <a:t>)</a:t>
            </a:r>
          </a:p>
          <a:p>
            <a:pPr lvl="0" indent="-457200" algn="just">
              <a:buNone/>
            </a:pPr>
            <a:r>
              <a:rPr lang="pt-BR" sz="1400" dirty="0"/>
              <a:t>Observou-se um crescimento consistente </a:t>
            </a:r>
            <a:endParaRPr lang="pt-BR" sz="1400" dirty="0" smtClean="0"/>
          </a:p>
          <a:p>
            <a:pPr lvl="0" indent="-457200" algn="just">
              <a:buNone/>
            </a:pPr>
            <a:r>
              <a:rPr lang="pt-BR" sz="1400" dirty="0" smtClean="0"/>
              <a:t>no </a:t>
            </a:r>
            <a:r>
              <a:rPr lang="pt-BR" sz="1400" dirty="0"/>
              <a:t>volume de vendas entre os anos de </a:t>
            </a:r>
            <a:endParaRPr lang="pt-BR" sz="1400" dirty="0" smtClean="0"/>
          </a:p>
          <a:p>
            <a:pPr lvl="0" indent="-457200" algn="just">
              <a:buNone/>
            </a:pPr>
            <a:r>
              <a:rPr lang="pt-BR" sz="1400" dirty="0" smtClean="0"/>
              <a:t>2017 </a:t>
            </a:r>
            <a:r>
              <a:rPr lang="pt-BR" sz="1400" dirty="0"/>
              <a:t>e 2018, validando a expansão </a:t>
            </a:r>
            <a:r>
              <a:rPr lang="pt-BR" sz="1400" dirty="0" smtClean="0"/>
              <a:t>da </a:t>
            </a:r>
          </a:p>
          <a:p>
            <a:pPr lvl="0" indent="-457200" algn="just">
              <a:buNone/>
            </a:pPr>
            <a:r>
              <a:rPr lang="pt-BR" sz="1400" dirty="0" smtClean="0"/>
              <a:t>base </a:t>
            </a:r>
            <a:r>
              <a:rPr lang="pt-BR" sz="1400" dirty="0"/>
              <a:t>de clientes da plataforma. </a:t>
            </a:r>
            <a:endParaRPr lang="pt-BR" sz="1400" dirty="0" smtClean="0"/>
          </a:p>
          <a:p>
            <a:pPr lvl="0" indent="-457200" algn="just">
              <a:buNone/>
            </a:pPr>
            <a:r>
              <a:rPr lang="pt-BR" sz="1400" dirty="0" smtClean="0"/>
              <a:t>A </a:t>
            </a:r>
            <a:r>
              <a:rPr lang="pt-BR" sz="1400" dirty="0"/>
              <a:t>dimensão de tempo permite "navegar" </a:t>
            </a:r>
            <a:endParaRPr lang="pt-BR" sz="1400" dirty="0" smtClean="0"/>
          </a:p>
          <a:p>
            <a:pPr lvl="0" indent="-457200" algn="just">
              <a:buNone/>
            </a:pPr>
            <a:r>
              <a:rPr lang="pt-BR" sz="1400" dirty="0" smtClean="0"/>
              <a:t>(</a:t>
            </a:r>
            <a:r>
              <a:rPr lang="pt-BR" sz="1400" dirty="0" err="1"/>
              <a:t>drill-down</a:t>
            </a:r>
            <a:r>
              <a:rPr lang="pt-BR" sz="1400" dirty="0"/>
              <a:t>) para visualizar picos de </a:t>
            </a:r>
            <a:endParaRPr lang="pt-BR" sz="1400" dirty="0" smtClean="0"/>
          </a:p>
          <a:p>
            <a:pPr lvl="0" indent="-457200" algn="just">
              <a:buNone/>
            </a:pPr>
            <a:r>
              <a:rPr lang="pt-BR" sz="1400" dirty="0" smtClean="0"/>
              <a:t>vendas </a:t>
            </a:r>
            <a:r>
              <a:rPr lang="pt-BR" sz="1400" dirty="0"/>
              <a:t>em meses específicos (</a:t>
            </a:r>
            <a:r>
              <a:rPr lang="pt-BR" sz="1400" dirty="0" err="1" smtClean="0"/>
              <a:t>ex:Black</a:t>
            </a:r>
            <a:r>
              <a:rPr lang="pt-BR" sz="1400" dirty="0" smtClean="0"/>
              <a:t> </a:t>
            </a:r>
            <a:r>
              <a:rPr lang="pt-BR" sz="1400" dirty="0"/>
              <a:t>Friday).</a:t>
            </a:r>
            <a:endParaRPr lang="pt-BR" sz="1400"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2"/>
          <p:cNvSpPr txBox="1">
            <a:spLocks noGrp="1"/>
          </p:cNvSpPr>
          <p:nvPr>
            <p:ph type="title"/>
          </p:nvPr>
        </p:nvSpPr>
        <p:spPr>
          <a:xfrm>
            <a:off x="311700" y="261257"/>
            <a:ext cx="8520600" cy="605017"/>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6"/>
            </a:pPr>
            <a:r>
              <a:rPr lang="pt-BR"/>
              <a:t>Consulta OLAP 3</a:t>
            </a:r>
            <a:endParaRPr/>
          </a:p>
        </p:txBody>
      </p:sp>
      <p:sp>
        <p:nvSpPr>
          <p:cNvPr id="226" name="Google Shape;226;p42"/>
          <p:cNvSpPr txBox="1">
            <a:spLocks noGrp="1"/>
          </p:cNvSpPr>
          <p:nvPr>
            <p:ph type="body" idx="1"/>
          </p:nvPr>
        </p:nvSpPr>
        <p:spPr>
          <a:xfrm>
            <a:off x="311700" y="866274"/>
            <a:ext cx="8520600" cy="3702601"/>
          </a:xfrm>
          <a:prstGeom prst="rect">
            <a:avLst/>
          </a:prstGeom>
        </p:spPr>
        <p:txBody>
          <a:bodyPr spcFirstLastPara="1" wrap="square" lIns="91425" tIns="91425" rIns="91425" bIns="91425" anchor="t" anchorCtr="0">
            <a:noAutofit/>
          </a:bodyPr>
          <a:lstStyle/>
          <a:p>
            <a:pPr lvl="0" indent="-368300">
              <a:buNone/>
            </a:pPr>
            <a:r>
              <a:rPr lang="pt-BR" dirty="0"/>
              <a:t>Análise de Distribuição </a:t>
            </a:r>
            <a:r>
              <a:rPr lang="pt-BR" dirty="0" smtClean="0"/>
              <a:t>Geográfica</a:t>
            </a:r>
          </a:p>
          <a:p>
            <a:pPr lvl="0" indent="-368300">
              <a:buNone/>
            </a:pPr>
            <a:endParaRPr lang="pt-BR" dirty="0" smtClean="0"/>
          </a:p>
        </p:txBody>
      </p:sp>
      <p:pic>
        <p:nvPicPr>
          <p:cNvPr id="2" name="Imagem 1"/>
          <p:cNvPicPr>
            <a:picLocks noChangeAspect="1"/>
          </p:cNvPicPr>
          <p:nvPr/>
        </p:nvPicPr>
        <p:blipFill>
          <a:blip r:embed="rId3"/>
          <a:stretch>
            <a:fillRect/>
          </a:stretch>
        </p:blipFill>
        <p:spPr>
          <a:xfrm>
            <a:off x="4384329" y="-1569"/>
            <a:ext cx="4759671" cy="5145069"/>
          </a:xfrm>
          <a:prstGeom prst="rect">
            <a:avLst/>
          </a:prstGeom>
        </p:spPr>
      </p:pic>
      <p:sp>
        <p:nvSpPr>
          <p:cNvPr id="3" name="Rectangle 1"/>
          <p:cNvSpPr>
            <a:spLocks noChangeArrowheads="1"/>
          </p:cNvSpPr>
          <p:nvPr/>
        </p:nvSpPr>
        <p:spPr bwMode="auto">
          <a:xfrm>
            <a:off x="372556" y="1015255"/>
            <a:ext cx="395091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pt-BR" altLang="pt-BR" dirty="0" smtClean="0">
                <a:solidFill>
                  <a:schemeClr val="dk2"/>
                </a:solidFill>
              </a:rPr>
              <a:t>Existe </a:t>
            </a:r>
            <a:r>
              <a:rPr lang="pt-BR" altLang="pt-BR" dirty="0">
                <a:solidFill>
                  <a:schemeClr val="dk2"/>
                </a:solidFill>
              </a:rPr>
              <a:t>uma forte concentração de vendas na região Sudeste, especificamente no estado de São Paulo (destacado em vermelho escuro no mapa), indicando uma oportunidade logística ou necessidade de expansão de marketing para outras regiões (Norte/Nordeste).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2"/>
          <p:cNvSpPr txBox="1">
            <a:spLocks noGrp="1"/>
          </p:cNvSpPr>
          <p:nvPr>
            <p:ph type="title"/>
          </p:nvPr>
        </p:nvSpPr>
        <p:spPr>
          <a:xfrm>
            <a:off x="311700" y="261257"/>
            <a:ext cx="8520600" cy="605017"/>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6"/>
            </a:pPr>
            <a:r>
              <a:rPr lang="pt-BR" dirty="0"/>
              <a:t>Consulta OLAP </a:t>
            </a:r>
            <a:r>
              <a:rPr lang="pt-BR" dirty="0" smtClean="0"/>
              <a:t>4</a:t>
            </a:r>
            <a:endParaRPr dirty="0"/>
          </a:p>
        </p:txBody>
      </p:sp>
      <p:sp>
        <p:nvSpPr>
          <p:cNvPr id="226" name="Google Shape;226;p42"/>
          <p:cNvSpPr txBox="1">
            <a:spLocks noGrp="1"/>
          </p:cNvSpPr>
          <p:nvPr>
            <p:ph type="body" idx="1"/>
          </p:nvPr>
        </p:nvSpPr>
        <p:spPr>
          <a:xfrm>
            <a:off x="311700" y="866274"/>
            <a:ext cx="5085323" cy="2715699"/>
          </a:xfrm>
          <a:prstGeom prst="rect">
            <a:avLst/>
          </a:prstGeom>
        </p:spPr>
        <p:txBody>
          <a:bodyPr spcFirstLastPara="1" wrap="square" lIns="91425" tIns="91425" rIns="91425" bIns="91425" anchor="t" anchorCtr="0">
            <a:noAutofit/>
          </a:bodyPr>
          <a:lstStyle/>
          <a:p>
            <a:pPr lvl="0" indent="-368300">
              <a:buNone/>
            </a:pPr>
            <a:r>
              <a:rPr lang="pt-BR" dirty="0"/>
              <a:t>Análise de </a:t>
            </a:r>
            <a:r>
              <a:rPr lang="pt-BR" dirty="0" smtClean="0"/>
              <a:t>Faturamento</a:t>
            </a:r>
            <a:r>
              <a:rPr lang="pt-BR" dirty="0"/>
              <a:t>: Foco Sertão do </a:t>
            </a:r>
            <a:r>
              <a:rPr lang="pt-BR" dirty="0" smtClean="0"/>
              <a:t>Pajeú</a:t>
            </a:r>
          </a:p>
          <a:p>
            <a:pPr marL="88900" lvl="0" indent="0">
              <a:buNone/>
            </a:pPr>
            <a:r>
              <a:rPr lang="pt-BR" sz="1400" dirty="0"/>
              <a:t>A criação do agrupamento personalizado permitiu isolar os dados da região do Sertão do Pajeú. </a:t>
            </a:r>
            <a:r>
              <a:rPr lang="pt-BR" sz="1400" dirty="0" smtClean="0"/>
              <a:t>A análise </a:t>
            </a:r>
            <a:r>
              <a:rPr lang="pt-BR" sz="1400" dirty="0"/>
              <a:t>revela o volume exato de vendas desta microrregião, permitindo comparar sua representatividade frente ao total de todos os estados e identificar oportunidades de logística dedicada para o interior.</a:t>
            </a:r>
          </a:p>
        </p:txBody>
      </p:sp>
      <p:pic>
        <p:nvPicPr>
          <p:cNvPr id="5" name="Imagem 4"/>
          <p:cNvPicPr>
            <a:picLocks noChangeAspect="1"/>
          </p:cNvPicPr>
          <p:nvPr/>
        </p:nvPicPr>
        <p:blipFill>
          <a:blip r:embed="rId3"/>
          <a:stretch>
            <a:fillRect/>
          </a:stretch>
        </p:blipFill>
        <p:spPr>
          <a:xfrm>
            <a:off x="2206935" y="2452346"/>
            <a:ext cx="4904623" cy="2604569"/>
          </a:xfrm>
          <a:prstGeom prst="rect">
            <a:avLst/>
          </a:prstGeom>
        </p:spPr>
      </p:pic>
    </p:spTree>
    <p:extLst>
      <p:ext uri="{BB962C8B-B14F-4D97-AF65-F5344CB8AC3E}">
        <p14:creationId xmlns:p14="http://schemas.microsoft.com/office/powerpoint/2010/main" val="168230008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3"/>
          <p:cNvSpPr txBox="1">
            <a:spLocks noGrp="1"/>
          </p:cNvSpPr>
          <p:nvPr>
            <p:ph type="title"/>
          </p:nvPr>
        </p:nvSpPr>
        <p:spPr>
          <a:xfrm>
            <a:off x="311700" y="163142"/>
            <a:ext cx="85206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startAt="16"/>
            </a:pPr>
            <a:r>
              <a:rPr lang="pt-BR" dirty="0"/>
              <a:t>Painel </a:t>
            </a:r>
            <a:r>
              <a:rPr lang="pt-BR" dirty="0" smtClean="0"/>
              <a:t>de Bordo </a:t>
            </a:r>
            <a:endParaRPr dirty="0"/>
          </a:p>
        </p:txBody>
      </p:sp>
      <p:sp>
        <p:nvSpPr>
          <p:cNvPr id="232" name="Google Shape;232;p43"/>
          <p:cNvSpPr txBox="1">
            <a:spLocks noGrp="1"/>
          </p:cNvSpPr>
          <p:nvPr>
            <p:ph type="body" idx="1"/>
          </p:nvPr>
        </p:nvSpPr>
        <p:spPr>
          <a:xfrm>
            <a:off x="311700" y="735841"/>
            <a:ext cx="8520600" cy="4234919"/>
          </a:xfrm>
          <a:prstGeom prst="rect">
            <a:avLst/>
          </a:prstGeom>
        </p:spPr>
        <p:txBody>
          <a:bodyPr spcFirstLastPara="1" wrap="square" lIns="91425" tIns="91425" rIns="91425" bIns="91425" anchor="t" anchorCtr="0">
            <a:noAutofit/>
          </a:bodyPr>
          <a:lstStyle/>
          <a:p>
            <a:pPr marL="0" lvl="0" indent="0">
              <a:buNone/>
            </a:pPr>
            <a:r>
              <a:rPr lang="pt-BR" sz="1400" b="1" dirty="0" err="1"/>
              <a:t>Dashboard</a:t>
            </a:r>
            <a:r>
              <a:rPr lang="pt-BR" sz="1400" b="1" dirty="0"/>
              <a:t> Executivo de Vendas</a:t>
            </a:r>
            <a:r>
              <a:rPr lang="pt-BR" sz="1400" dirty="0"/>
              <a:t> O Painel de Bordo consolida as visões anteriores em uma interface única e interativa no Power BI. O gestor pode clicar no estado "SP" no mapa, e o gráfico de barras filtra automaticamente para mostrar apenas as categorias mais vendidas em São Paulo</a:t>
            </a:r>
            <a:r>
              <a:rPr lang="pt-BR" sz="1400" dirty="0" smtClean="0"/>
              <a:t>.</a:t>
            </a:r>
          </a:p>
          <a:p>
            <a:pPr marL="0" lvl="0" indent="0">
              <a:buNone/>
            </a:pPr>
            <a:endParaRPr sz="1400" dirty="0"/>
          </a:p>
        </p:txBody>
      </p:sp>
      <p:pic>
        <p:nvPicPr>
          <p:cNvPr id="3" name="Imagem 2"/>
          <p:cNvPicPr>
            <a:picLocks noChangeAspect="1"/>
          </p:cNvPicPr>
          <p:nvPr/>
        </p:nvPicPr>
        <p:blipFill>
          <a:blip r:embed="rId3"/>
          <a:stretch>
            <a:fillRect/>
          </a:stretch>
        </p:blipFill>
        <p:spPr>
          <a:xfrm>
            <a:off x="443399" y="1629683"/>
            <a:ext cx="5514268" cy="34184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4"/>
          <p:cNvSpPr txBox="1">
            <a:spLocks noGrp="1"/>
          </p:cNvSpPr>
          <p:nvPr>
            <p:ph type="title"/>
          </p:nvPr>
        </p:nvSpPr>
        <p:spPr>
          <a:xfrm>
            <a:off x="311700" y="18954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Referências</a:t>
            </a:r>
            <a:endParaRPr dirty="0"/>
          </a:p>
        </p:txBody>
      </p:sp>
      <p:sp>
        <p:nvSpPr>
          <p:cNvPr id="238" name="Google Shape;238;p44"/>
          <p:cNvSpPr txBox="1">
            <a:spLocks noGrp="1"/>
          </p:cNvSpPr>
          <p:nvPr>
            <p:ph type="body" idx="1"/>
          </p:nvPr>
        </p:nvSpPr>
        <p:spPr>
          <a:xfrm>
            <a:off x="311700" y="836217"/>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pt-BR" dirty="0"/>
              <a:t>Dados </a:t>
            </a:r>
            <a:r>
              <a:rPr lang="pt-BR" dirty="0" smtClean="0"/>
              <a:t>fontes</a:t>
            </a:r>
          </a:p>
          <a:p>
            <a:pPr marL="457200" lvl="0" indent="-342900" algn="l" rtl="0">
              <a:spcBef>
                <a:spcPts val="0"/>
              </a:spcBef>
              <a:spcAft>
                <a:spcPts val="0"/>
              </a:spcAft>
              <a:buSzPts val="1800"/>
              <a:buAutoNum type="arabicPeriod"/>
            </a:pPr>
            <a:endParaRPr dirty="0"/>
          </a:p>
        </p:txBody>
      </p:sp>
      <p:sp>
        <p:nvSpPr>
          <p:cNvPr id="2" name="Rectangle 1"/>
          <p:cNvSpPr>
            <a:spLocks noChangeArrowheads="1"/>
          </p:cNvSpPr>
          <p:nvPr/>
        </p:nvSpPr>
        <p:spPr bwMode="auto">
          <a:xfrm>
            <a:off x="456882" y="471277"/>
            <a:ext cx="7617656"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300" dirty="0" smtClean="0">
              <a:solidFill>
                <a:schemeClr val="dk2"/>
              </a:solidFill>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300" dirty="0">
              <a:solidFill>
                <a:schemeClr val="dk2"/>
              </a:solidFill>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300" dirty="0" smtClean="0">
              <a:solidFill>
                <a:schemeClr val="dk2"/>
              </a:solidFill>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300" dirty="0" smtClean="0">
              <a:solidFill>
                <a:schemeClr val="dk2"/>
              </a:solidFill>
            </a:endParaRPr>
          </a:p>
          <a:p>
            <a:r>
              <a:rPr lang="pt-BR" sz="1300" dirty="0">
                <a:solidFill>
                  <a:schemeClr val="dk2"/>
                </a:solidFill>
              </a:rPr>
              <a:t>OLIST. </a:t>
            </a:r>
            <a:r>
              <a:rPr lang="pt-BR" sz="1300" dirty="0" err="1">
                <a:solidFill>
                  <a:schemeClr val="dk2"/>
                </a:solidFill>
              </a:rPr>
              <a:t>Brazilian</a:t>
            </a:r>
            <a:r>
              <a:rPr lang="pt-BR" sz="1300" dirty="0">
                <a:solidFill>
                  <a:schemeClr val="dk2"/>
                </a:solidFill>
              </a:rPr>
              <a:t> E-Commerce </a:t>
            </a:r>
            <a:r>
              <a:rPr lang="pt-BR" sz="1300" dirty="0" err="1">
                <a:solidFill>
                  <a:schemeClr val="dk2"/>
                </a:solidFill>
              </a:rPr>
              <a:t>Public</a:t>
            </a:r>
            <a:r>
              <a:rPr lang="pt-BR" sz="1300" dirty="0">
                <a:solidFill>
                  <a:schemeClr val="dk2"/>
                </a:solidFill>
              </a:rPr>
              <a:t> </a:t>
            </a:r>
            <a:r>
              <a:rPr lang="pt-BR" sz="1300" dirty="0" err="1">
                <a:solidFill>
                  <a:schemeClr val="dk2"/>
                </a:solidFill>
              </a:rPr>
              <a:t>Dataset</a:t>
            </a:r>
            <a:r>
              <a:rPr lang="pt-BR" sz="1300" dirty="0">
                <a:solidFill>
                  <a:schemeClr val="dk2"/>
                </a:solidFill>
              </a:rPr>
              <a:t> </a:t>
            </a:r>
            <a:r>
              <a:rPr lang="pt-BR" sz="1300" dirty="0" err="1">
                <a:solidFill>
                  <a:schemeClr val="dk2"/>
                </a:solidFill>
              </a:rPr>
              <a:t>by</a:t>
            </a:r>
            <a:r>
              <a:rPr lang="pt-BR" sz="1300" dirty="0">
                <a:solidFill>
                  <a:schemeClr val="dk2"/>
                </a:solidFill>
              </a:rPr>
              <a:t> </a:t>
            </a:r>
            <a:r>
              <a:rPr lang="pt-BR" sz="1300" dirty="0" err="1">
                <a:solidFill>
                  <a:schemeClr val="dk2"/>
                </a:solidFill>
              </a:rPr>
              <a:t>Olist</a:t>
            </a:r>
            <a:r>
              <a:rPr lang="pt-BR" sz="1300" dirty="0">
                <a:solidFill>
                  <a:schemeClr val="dk2"/>
                </a:solidFill>
              </a:rPr>
              <a:t>. </a:t>
            </a:r>
            <a:r>
              <a:rPr lang="pt-BR" sz="1300" dirty="0" err="1">
                <a:solidFill>
                  <a:schemeClr val="dk2"/>
                </a:solidFill>
              </a:rPr>
              <a:t>Kaggle</a:t>
            </a:r>
            <a:r>
              <a:rPr lang="pt-BR" sz="1300" dirty="0">
                <a:solidFill>
                  <a:schemeClr val="dk2"/>
                </a:solidFill>
              </a:rPr>
              <a:t>, 2018. Disponível em: </a:t>
            </a:r>
            <a:r>
              <a:rPr lang="pt-BR" sz="1300" dirty="0">
                <a:solidFill>
                  <a:schemeClr val="dk2"/>
                </a:solidFill>
                <a:hlinkClick r:id="rId3"/>
              </a:rPr>
              <a:t>https://www.kaggle.com/datasets/olistbr/brazilian-ecommerce</a:t>
            </a:r>
            <a:r>
              <a:rPr lang="pt-BR" sz="1300" dirty="0">
                <a:solidFill>
                  <a:schemeClr val="dk2"/>
                </a:solidFill>
              </a:rPr>
              <a:t>. Acesso em: 02 dez. 2025.</a:t>
            </a:r>
          </a:p>
          <a:p>
            <a:endParaRPr lang="pt-BR" sz="1300" dirty="0">
              <a:solidFill>
                <a:schemeClr val="dk2"/>
              </a:solidFill>
            </a:endParaRPr>
          </a:p>
          <a:p>
            <a:r>
              <a:rPr lang="pt-BR" sz="1300" dirty="0">
                <a:solidFill>
                  <a:schemeClr val="dk2"/>
                </a:solidFill>
              </a:rPr>
              <a:t>Metodologia (Modelagem Dimensional): KIMBALL, Ralph; ROSS, </a:t>
            </a:r>
            <a:r>
              <a:rPr lang="pt-BR" sz="1300" dirty="0" err="1">
                <a:solidFill>
                  <a:schemeClr val="dk2"/>
                </a:solidFill>
              </a:rPr>
              <a:t>Margy</a:t>
            </a:r>
            <a:r>
              <a:rPr lang="pt-BR" sz="1300" dirty="0">
                <a:solidFill>
                  <a:schemeClr val="dk2"/>
                </a:solidFill>
              </a:rPr>
              <a:t>. The Data </a:t>
            </a:r>
            <a:r>
              <a:rPr lang="pt-BR" sz="1300" dirty="0" err="1">
                <a:solidFill>
                  <a:schemeClr val="dk2"/>
                </a:solidFill>
              </a:rPr>
              <a:t>Warehouse</a:t>
            </a:r>
            <a:r>
              <a:rPr lang="pt-BR" sz="1300" dirty="0">
                <a:solidFill>
                  <a:schemeClr val="dk2"/>
                </a:solidFill>
              </a:rPr>
              <a:t> Toolkit: The </a:t>
            </a:r>
            <a:r>
              <a:rPr lang="pt-BR" sz="1300" dirty="0" err="1">
                <a:solidFill>
                  <a:schemeClr val="dk2"/>
                </a:solidFill>
              </a:rPr>
              <a:t>Definitive</a:t>
            </a:r>
            <a:r>
              <a:rPr lang="pt-BR" sz="1300" dirty="0">
                <a:solidFill>
                  <a:schemeClr val="dk2"/>
                </a:solidFill>
              </a:rPr>
              <a:t> </a:t>
            </a:r>
            <a:r>
              <a:rPr lang="pt-BR" sz="1300" dirty="0" err="1">
                <a:solidFill>
                  <a:schemeClr val="dk2"/>
                </a:solidFill>
              </a:rPr>
              <a:t>Guide</a:t>
            </a:r>
            <a:r>
              <a:rPr lang="pt-BR" sz="1300" dirty="0">
                <a:solidFill>
                  <a:schemeClr val="dk2"/>
                </a:solidFill>
              </a:rPr>
              <a:t> </a:t>
            </a:r>
            <a:r>
              <a:rPr lang="pt-BR" sz="1300" dirty="0" err="1">
                <a:solidFill>
                  <a:schemeClr val="dk2"/>
                </a:solidFill>
              </a:rPr>
              <a:t>to</a:t>
            </a:r>
            <a:r>
              <a:rPr lang="pt-BR" sz="1300" dirty="0">
                <a:solidFill>
                  <a:schemeClr val="dk2"/>
                </a:solidFill>
              </a:rPr>
              <a:t> Dimensional </a:t>
            </a:r>
            <a:r>
              <a:rPr lang="pt-BR" sz="1300" dirty="0" err="1">
                <a:solidFill>
                  <a:schemeClr val="dk2"/>
                </a:solidFill>
              </a:rPr>
              <a:t>Modeling</a:t>
            </a:r>
            <a:r>
              <a:rPr lang="pt-BR" sz="1300" dirty="0">
                <a:solidFill>
                  <a:schemeClr val="dk2"/>
                </a:solidFill>
              </a:rPr>
              <a:t>. 3. ed. </a:t>
            </a:r>
            <a:r>
              <a:rPr lang="pt-BR" sz="1300" dirty="0" err="1">
                <a:solidFill>
                  <a:schemeClr val="dk2"/>
                </a:solidFill>
              </a:rPr>
              <a:t>Wiley</a:t>
            </a:r>
            <a:r>
              <a:rPr lang="pt-BR" sz="1300" dirty="0">
                <a:solidFill>
                  <a:schemeClr val="dk2"/>
                </a:solidFill>
              </a:rPr>
              <a:t>, 2013.</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300" dirty="0" smtClean="0">
              <a:solidFill>
                <a:schemeClr val="dk2"/>
              </a:solidFill>
            </a:endParaRPr>
          </a:p>
          <a:p>
            <a:pPr marL="0" marR="0" lvl="0" indent="0" algn="just" defTabSz="914400" rtl="0" eaLnBrk="0" fontAlgn="base" latinLnBrk="0" hangingPunct="0">
              <a:lnSpc>
                <a:spcPct val="100000"/>
              </a:lnSpc>
              <a:spcBef>
                <a:spcPct val="0"/>
              </a:spcBef>
              <a:spcAft>
                <a:spcPct val="0"/>
              </a:spcAft>
              <a:buClrTx/>
              <a:buSzTx/>
              <a:buFontTx/>
              <a:buNone/>
              <a:tabLst/>
            </a:pPr>
            <a:r>
              <a:rPr lang="pt-BR" altLang="pt-BR" sz="1300" dirty="0" smtClean="0">
                <a:solidFill>
                  <a:schemeClr val="dk2"/>
                </a:solidFill>
              </a:rPr>
              <a:t>O conjunto </a:t>
            </a:r>
            <a:r>
              <a:rPr lang="pt-BR" altLang="pt-BR" sz="1300" dirty="0">
                <a:solidFill>
                  <a:schemeClr val="dk2"/>
                </a:solidFill>
              </a:rPr>
              <a:t>de dados utilizado é público e está disponibilizado sob a licença CC BY-NC-SA 4.0. O </a:t>
            </a:r>
            <a:r>
              <a:rPr lang="pt-BR" altLang="pt-BR" sz="1300" dirty="0" err="1">
                <a:solidFill>
                  <a:schemeClr val="dk2"/>
                </a:solidFill>
              </a:rPr>
              <a:t>dataset</a:t>
            </a:r>
            <a:r>
              <a:rPr lang="pt-BR" altLang="pt-BR" sz="1300" dirty="0">
                <a:solidFill>
                  <a:schemeClr val="dk2"/>
                </a:solidFill>
              </a:rPr>
              <a:t> compreende 100 mil pedidos </a:t>
            </a:r>
            <a:r>
              <a:rPr lang="pt-BR" altLang="pt-BR" sz="1300" dirty="0" err="1">
                <a:solidFill>
                  <a:schemeClr val="dk2"/>
                </a:solidFill>
              </a:rPr>
              <a:t>anonimizados</a:t>
            </a:r>
            <a:r>
              <a:rPr lang="pt-BR" altLang="pt-BR" sz="1300" dirty="0">
                <a:solidFill>
                  <a:schemeClr val="dk2"/>
                </a:solidFill>
              </a:rPr>
              <a:t> feitos em vários </a:t>
            </a:r>
            <a:r>
              <a:rPr lang="pt-BR" altLang="pt-BR" sz="1300" dirty="0" err="1">
                <a:solidFill>
                  <a:schemeClr val="dk2"/>
                </a:solidFill>
              </a:rPr>
              <a:t>marketplaces</a:t>
            </a:r>
            <a:r>
              <a:rPr lang="pt-BR" altLang="pt-BR" sz="1300" dirty="0">
                <a:solidFill>
                  <a:schemeClr val="dk2"/>
                </a:solidFill>
              </a:rPr>
              <a:t> no Brasil entre 2016 e 2018.</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300" dirty="0" smtClean="0">
              <a:solidFill>
                <a:schemeClr val="dk2"/>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pt-BR" altLang="pt-BR" sz="1300" dirty="0" smtClean="0">
                <a:solidFill>
                  <a:schemeClr val="dk2"/>
                </a:solidFill>
              </a:rPr>
              <a:t>Arquivos </a:t>
            </a:r>
            <a:r>
              <a:rPr lang="pt-BR" altLang="pt-BR" sz="1300" dirty="0">
                <a:solidFill>
                  <a:schemeClr val="dk2"/>
                </a:solidFill>
              </a:rPr>
              <a:t>utilizados:</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300" dirty="0">
                <a:solidFill>
                  <a:schemeClr val="dk2"/>
                </a:solidFill>
              </a:rPr>
              <a:t>olist_customers_dataset.csv</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300" dirty="0">
                <a:solidFill>
                  <a:schemeClr val="dk2"/>
                </a:solidFill>
              </a:rPr>
              <a:t>olist_products_dataset.csv</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300" dirty="0">
                <a:solidFill>
                  <a:schemeClr val="dk2"/>
                </a:solidFill>
              </a:rPr>
              <a:t>olist_orders_dataset.csv</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1300" dirty="0" smtClean="0">
                <a:solidFill>
                  <a:schemeClr val="dk2"/>
                </a:solidFill>
              </a:rPr>
              <a:t>olist_order_items_dataset.csv</a:t>
            </a:r>
          </a:p>
          <a:p>
            <a:pPr marL="0" marR="0" lvl="0" indent="0" algn="l" defTabSz="914400" rtl="0" eaLnBrk="0" fontAlgn="base" latinLnBrk="0" hangingPunct="0">
              <a:lnSpc>
                <a:spcPct val="100000"/>
              </a:lnSpc>
              <a:spcBef>
                <a:spcPct val="0"/>
              </a:spcBef>
              <a:spcAft>
                <a:spcPct val="0"/>
              </a:spcAft>
              <a:buClrTx/>
              <a:buSzTx/>
              <a:buFontTx/>
              <a:buChar char="•"/>
              <a:tabLst/>
            </a:pPr>
            <a:endParaRPr lang="pt-BR" altLang="pt-BR" sz="1300" dirty="0">
              <a:solidFill>
                <a:schemeClr val="dk2"/>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800" dirty="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a:t>Anexos</a:t>
            </a:r>
            <a:endParaRPr/>
          </a:p>
        </p:txBody>
      </p:sp>
      <p:sp>
        <p:nvSpPr>
          <p:cNvPr id="244" name="Google Shape;244;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spcAft>
                <a:spcPts val="1600"/>
              </a:spcAft>
              <a:buNone/>
            </a:pPr>
            <a:r>
              <a:rPr lang="pt-BR" altLang="pt-BR" dirty="0"/>
              <a:t>Anexo A: Dicionário de Dados Original (</a:t>
            </a:r>
            <a:r>
              <a:rPr lang="pt-BR" altLang="pt-BR" dirty="0" err="1"/>
              <a:t>Schema</a:t>
            </a:r>
            <a:r>
              <a:rPr lang="pt-BR" altLang="pt-BR" dirty="0"/>
              <a:t> da </a:t>
            </a:r>
            <a:r>
              <a:rPr lang="pt-BR" altLang="pt-BR" dirty="0" err="1"/>
              <a:t>Olist</a:t>
            </a:r>
            <a:r>
              <a:rPr lang="pt-BR" altLang="pt-BR" dirty="0"/>
              <a:t>/</a:t>
            </a:r>
            <a:r>
              <a:rPr lang="pt-BR" altLang="pt-BR" dirty="0" err="1"/>
              <a:t>Kaggle</a:t>
            </a:r>
            <a:r>
              <a:rPr lang="pt-BR" altLang="pt-BR" dirty="0"/>
              <a:t>). </a:t>
            </a:r>
            <a:endParaRPr lang="pt-BR" altLang="pt-BR" dirty="0" smtClean="0"/>
          </a:p>
          <a:p>
            <a:pPr marL="0" indent="0">
              <a:spcAft>
                <a:spcPts val="1600"/>
              </a:spcAft>
              <a:buNone/>
            </a:pPr>
            <a:r>
              <a:rPr lang="pt-BR" altLang="pt-BR" dirty="0" smtClean="0"/>
              <a:t>Link</a:t>
            </a:r>
            <a:r>
              <a:rPr lang="pt-BR" altLang="pt-BR" dirty="0"/>
              <a:t>: </a:t>
            </a:r>
            <a:r>
              <a:rPr lang="pt-BR" altLang="pt-BR" dirty="0">
                <a:hlinkClick r:id="rId3"/>
              </a:rPr>
              <a:t>https://</a:t>
            </a:r>
            <a:r>
              <a:rPr lang="pt-BR" altLang="pt-BR" dirty="0" smtClean="0">
                <a:hlinkClick r:id="rId3"/>
              </a:rPr>
              <a:t>www.kaggle.com/datasets/olistbr/brazilian-ecommerce</a:t>
            </a:r>
            <a:endParaRPr lang="pt-BR" altLang="pt-B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a:t>Apêndices</a:t>
            </a:r>
            <a:endParaRPr/>
          </a:p>
        </p:txBody>
      </p:sp>
      <p:sp>
        <p:nvSpPr>
          <p:cNvPr id="2" name="Rectangle 1"/>
          <p:cNvSpPr>
            <a:spLocks noGrp="1" noChangeArrowheads="1"/>
          </p:cNvSpPr>
          <p:nvPr>
            <p:ph type="body" idx="1"/>
          </p:nvPr>
        </p:nvSpPr>
        <p:spPr bwMode="auto">
          <a:xfrm>
            <a:off x="311700" y="979079"/>
            <a:ext cx="643973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Apêndice A:</a:t>
            </a:r>
            <a:r>
              <a:rPr kumimoji="0" lang="pt-BR" altLang="pt-BR" sz="1400" b="0" i="0" u="none" strike="noStrike" cap="none" normalizeH="0" baseline="0" dirty="0" smtClean="0">
                <a:ln>
                  <a:noFill/>
                </a:ln>
                <a:solidFill>
                  <a:schemeClr val="tx1"/>
                </a:solidFill>
                <a:effectLst/>
                <a:latin typeface="Arial" panose="020B0604020202020204" pitchFamily="34" charset="0"/>
              </a:rPr>
              <a:t> Scripts SQL (DDL) de criação do Banco de Dados </a:t>
            </a:r>
            <a:r>
              <a:rPr kumimoji="0" lang="pt-BR" altLang="pt-BR" sz="1400" b="0" i="0" u="none" strike="noStrike" cap="none" normalizeH="0" baseline="0" dirty="0" err="1" smtClean="0">
                <a:ln>
                  <a:noFill/>
                </a:ln>
                <a:solidFill>
                  <a:schemeClr val="tx1"/>
                </a:solidFill>
                <a:effectLst/>
                <a:latin typeface="Arial Unicode MS"/>
              </a:rPr>
              <a:t>datamart</a:t>
            </a:r>
            <a:r>
              <a:rPr kumimoji="0" lang="pt-BR" altLang="pt-BR" sz="14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Apêndice B:</a:t>
            </a:r>
            <a:r>
              <a:rPr kumimoji="0" lang="pt-BR" altLang="pt-BR" sz="1400" b="0" i="0" u="none" strike="noStrike" cap="none" normalizeH="0" baseline="0" dirty="0" smtClean="0">
                <a:ln>
                  <a:noFill/>
                </a:ln>
                <a:solidFill>
                  <a:schemeClr val="tx1"/>
                </a:solidFill>
                <a:effectLst/>
                <a:latin typeface="Arial" panose="020B0604020202020204" pitchFamily="34" charset="0"/>
              </a:rPr>
              <a:t> Evidência de Execução do ETL (Print do </a:t>
            </a:r>
            <a:r>
              <a:rPr kumimoji="0" lang="pt-BR" altLang="pt-BR" sz="1400" b="0" i="0" u="none" strike="noStrike" cap="none" normalizeH="0" baseline="0" dirty="0" err="1" smtClean="0">
                <a:ln>
                  <a:noFill/>
                </a:ln>
                <a:solidFill>
                  <a:schemeClr val="tx1"/>
                </a:solidFill>
                <a:effectLst/>
                <a:latin typeface="Arial" panose="020B0604020202020204" pitchFamily="34" charset="0"/>
              </a:rPr>
              <a:t>Job</a:t>
            </a:r>
            <a:r>
              <a:rPr kumimoji="0" lang="pt-BR" altLang="pt-BR" sz="1400" b="0" i="0" u="none" strike="noStrike" cap="none" normalizeH="0" baseline="0" dirty="0" smtClean="0">
                <a:ln>
                  <a:noFill/>
                </a:ln>
                <a:solidFill>
                  <a:schemeClr val="tx1"/>
                </a:solidFill>
                <a:effectLst/>
                <a:latin typeface="Arial" panose="020B0604020202020204" pitchFamily="34" charset="0"/>
              </a:rPr>
              <a:t> no </a:t>
            </a:r>
            <a:r>
              <a:rPr kumimoji="0" lang="pt-BR" altLang="pt-BR" sz="1400" b="0" i="0" u="none" strike="noStrike" cap="none" normalizeH="0" baseline="0" dirty="0" err="1" smtClean="0">
                <a:ln>
                  <a:noFill/>
                </a:ln>
                <a:solidFill>
                  <a:schemeClr val="tx1"/>
                </a:solidFill>
                <a:effectLst/>
                <a:latin typeface="Arial" panose="020B0604020202020204" pitchFamily="34" charset="0"/>
              </a:rPr>
              <a:t>Pentaho</a:t>
            </a:r>
            <a:r>
              <a:rPr kumimoji="0" lang="pt-BR" altLang="pt-BR" sz="1400" b="0" i="0" u="none" strike="noStrike" cap="none" normalizeH="0" baseline="0" dirty="0" smtClean="0">
                <a:ln>
                  <a:noFill/>
                </a:ln>
                <a:solidFill>
                  <a:schemeClr val="tx1"/>
                </a:solidFill>
                <a:effectLst/>
                <a:latin typeface="Arial" panose="020B0604020202020204" pitchFamily="34" charset="0"/>
              </a:rPr>
              <a:t> com status "</a:t>
            </a:r>
            <a:r>
              <a:rPr kumimoji="0" lang="pt-BR" altLang="pt-BR" sz="1400" b="0" i="0" u="none" strike="noStrike" cap="none" normalizeH="0" baseline="0" dirty="0" err="1" smtClean="0">
                <a:ln>
                  <a:noFill/>
                </a:ln>
                <a:solidFill>
                  <a:schemeClr val="tx1"/>
                </a:solidFill>
                <a:effectLst/>
                <a:latin typeface="Arial" panose="020B0604020202020204" pitchFamily="34" charset="0"/>
              </a:rPr>
              <a:t>Success</a:t>
            </a:r>
            <a:r>
              <a:rPr kumimoji="0" lang="pt-BR" altLang="pt-BR" sz="14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smtClean="0">
                <a:ln>
                  <a:noFill/>
                </a:ln>
                <a:solidFill>
                  <a:schemeClr val="tx1"/>
                </a:solidFill>
                <a:effectLst/>
                <a:latin typeface="Arial" panose="020B0604020202020204" pitchFamily="34" charset="0"/>
              </a:rPr>
              <a:t>Apêndice C:</a:t>
            </a:r>
            <a:r>
              <a:rPr kumimoji="0" lang="pt-BR" altLang="pt-BR" sz="1400" b="0" i="0" u="none" strike="noStrike" cap="none" normalizeH="0" baseline="0" dirty="0" smtClean="0">
                <a:ln>
                  <a:noFill/>
                </a:ln>
                <a:solidFill>
                  <a:schemeClr val="tx1"/>
                </a:solidFill>
                <a:effectLst/>
                <a:latin typeface="Arial" panose="020B0604020202020204" pitchFamily="34" charset="0"/>
              </a:rPr>
              <a:t> Painel de Bordo (</a:t>
            </a:r>
            <a:r>
              <a:rPr kumimoji="0" lang="pt-BR" altLang="pt-BR" sz="1400" b="0" i="0" u="none" strike="noStrike" cap="none" normalizeH="0" baseline="0" dirty="0" err="1" smtClean="0">
                <a:ln>
                  <a:noFill/>
                </a:ln>
                <a:solidFill>
                  <a:schemeClr val="tx1"/>
                </a:solidFill>
                <a:effectLst/>
                <a:latin typeface="Arial" panose="020B0604020202020204" pitchFamily="34" charset="0"/>
              </a:rPr>
              <a:t>Dashboard</a:t>
            </a:r>
            <a:r>
              <a:rPr kumimoji="0" lang="pt-BR" altLang="pt-BR" sz="1400" b="0" i="0" u="none" strike="noStrike" cap="none" normalizeH="0" baseline="0" dirty="0" smtClean="0">
                <a:ln>
                  <a:noFill/>
                </a:ln>
                <a:solidFill>
                  <a:schemeClr val="tx1"/>
                </a:solidFill>
                <a:effectLst/>
                <a:latin typeface="Arial" panose="020B0604020202020204" pitchFamily="34" charset="0"/>
              </a:rPr>
              <a:t>) Final exportado em PDF/Imagem. </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1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4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2004</Words>
  <Application>Microsoft Office PowerPoint</Application>
  <PresentationFormat>Apresentação na tela (16:9)</PresentationFormat>
  <Paragraphs>235</Paragraphs>
  <Slides>38</Slides>
  <Notes>35</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38</vt:i4>
      </vt:variant>
    </vt:vector>
  </HeadingPairs>
  <TitlesOfParts>
    <vt:vector size="41" baseType="lpstr">
      <vt:lpstr>Arial</vt:lpstr>
      <vt:lpstr>Arial Unicode MS</vt:lpstr>
      <vt:lpstr>Simple Light</vt:lpstr>
      <vt:lpstr>Brazilian E-Commerce Public Dataset </vt:lpstr>
      <vt:lpstr>ETAPA 1 - PLANEJAMENTO</vt:lpstr>
      <vt:lpstr>Contextualização</vt:lpstr>
      <vt:lpstr>Escopo/objetivo do Data Mart</vt:lpstr>
      <vt:lpstr>Arquitetura Tecnológica</vt:lpstr>
      <vt:lpstr>Processo</vt:lpstr>
      <vt:lpstr>Abordagem</vt:lpstr>
      <vt:lpstr>Usuários</vt:lpstr>
      <vt:lpstr>ETAPA 2 - LEVANTAMENTO DAS NECESSIDADES</vt:lpstr>
      <vt:lpstr>Consultas de Apoio à Decisão  </vt:lpstr>
      <vt:lpstr>Indicadores do &lt;negócio&gt; </vt:lpstr>
      <vt:lpstr>ETAPA 3 - MODELAGEM</vt:lpstr>
      <vt:lpstr>Modelo Relacional</vt:lpstr>
      <vt:lpstr>Modelo Dimensional</vt:lpstr>
      <vt:lpstr>Modelo Dimensional</vt:lpstr>
      <vt:lpstr>Modelo Dimensional</vt:lpstr>
      <vt:lpstr>Modelo Dimensional</vt:lpstr>
      <vt:lpstr>Modelo Dimensional</vt:lpstr>
      <vt:lpstr>Modelo Dimensional do Data Mart (lógico)</vt:lpstr>
      <vt:lpstr>ETAPA 4 - PROJETO FÍSICO DO BD</vt:lpstr>
      <vt:lpstr>Modelo Relacional do Data Mart (físico)</vt:lpstr>
      <vt:lpstr>2. Tabela Dimensão Produto (dim_produto) </vt:lpstr>
      <vt:lpstr>3. Tabela Dimensão Tempo (dim_tempo) </vt:lpstr>
      <vt:lpstr>4. Tabela Fato Vendas (fato_vendas) </vt:lpstr>
      <vt:lpstr>ETAPA 5 - EXTRAÇÃO, TRANSFORMAÇÃO E CARGA</vt:lpstr>
      <vt:lpstr>Plano de Carga da Dimensão Tempo</vt:lpstr>
      <vt:lpstr>Plano de Carga da Dimensão Cliente</vt:lpstr>
      <vt:lpstr>Plano de Carga da Dimensão Produto</vt:lpstr>
      <vt:lpstr>Plano de Carga da Fato</vt:lpstr>
      <vt:lpstr>ETAPA 6 - APLICAÇÃO OLAP e PAINEL DE BORDO</vt:lpstr>
      <vt:lpstr>Consulta OLAP 1</vt:lpstr>
      <vt:lpstr>Consulta OLAP 2</vt:lpstr>
      <vt:lpstr>Consulta OLAP 3</vt:lpstr>
      <vt:lpstr>Consulta OLAP 4</vt:lpstr>
      <vt:lpstr>Painel de Bordo </vt:lpstr>
      <vt:lpstr>Referências</vt:lpstr>
      <vt:lpstr>Anexos</vt:lpstr>
      <vt:lpstr>Apêndices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Brazilian E-Commerce Public Dataset</dc:title>
  <dc:creator>Ytalo</dc:creator>
  <cp:lastModifiedBy>Ytalo</cp:lastModifiedBy>
  <cp:revision>15</cp:revision>
  <dcterms:modified xsi:type="dcterms:W3CDTF">2025-12-11T23:53:20Z</dcterms:modified>
</cp:coreProperties>
</file>