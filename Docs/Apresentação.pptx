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90" r:id="rId23"/>
    <p:sldId id="291" r:id="rId24"/>
    <p:sldId id="292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72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91af41aa6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91af41aa6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93a86bc37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93a86bc37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91af41aa6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91af41aa6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91af41aa62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91af41aa62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91af41aa62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91af41aa62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91af41aa62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91af41aa62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93a86bc37c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93a86bc37c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9413559e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9413559e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93a86bc37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93a86bc37c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91af41aa62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91af41aa62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93a86bc37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93a86bc37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93a86bc37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93a86bc37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91af41aa62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91af41aa62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91af41aa62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91af41aa62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9673c12d7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9673c12d7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9673c12d75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9673c12d75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9673c12d75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9673c12d75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9673c12d75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9673c12d75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9673c12d75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9673c12d75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9d9584ba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9d9584ba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9d9584ba26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9d9584ba26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d9584ba26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d9584ba26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9d9584ba26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9d9584ba26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9d9584ba2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9d9584ba26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9d9584ba2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9d9584ba2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9d9584ba26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9d9584ba26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9d9584ba26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9d9584ba26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9d9584ba26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9d9584ba26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9d1ad0ecf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9d1ad0ecf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9d1ad0ecf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9d1ad0ecf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9d1ad0ecf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9d1ad0ecf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91af41aa62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91af41aa62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93a86bc37c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93a86bc37c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93a86bc37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93a86bc37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pt-br/download/details.aspx?id=58494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olistbr/brazilian-ecommerc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olistbr/brazilian-ecommerc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591266"/>
            <a:ext cx="8520600" cy="20350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pt-BR" sz="3500" b="1" dirty="0" err="1" smtClean="0"/>
              <a:t>Brazilian</a:t>
            </a:r>
            <a:r>
              <a:rPr lang="pt-BR" sz="3500" b="1" dirty="0" smtClean="0"/>
              <a:t> </a:t>
            </a:r>
            <a:r>
              <a:rPr lang="pt-BR" sz="3500" b="1" dirty="0"/>
              <a:t>E-Commerce </a:t>
            </a:r>
            <a:r>
              <a:rPr lang="pt-BR" sz="3500" b="1" dirty="0" err="1"/>
              <a:t>Public</a:t>
            </a:r>
            <a:r>
              <a:rPr lang="pt-BR" sz="3500" b="1" dirty="0"/>
              <a:t> </a:t>
            </a:r>
            <a:r>
              <a:rPr lang="pt-BR" sz="3500" b="1" dirty="0" err="1"/>
              <a:t>Dataset</a:t>
            </a:r>
            <a:r>
              <a:rPr lang="pt-BR" b="1" dirty="0"/>
              <a:t/>
            </a:r>
            <a:br>
              <a:rPr lang="pt-BR" b="1" dirty="0"/>
            </a:b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464100" y="20828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 smtClean="0"/>
              <a:t>Ytalo Cristian</a:t>
            </a:r>
            <a:r>
              <a:rPr lang="pt-BR" dirty="0"/>
              <a:t> </a:t>
            </a:r>
            <a:r>
              <a:rPr lang="pt-BR" dirty="0" smtClean="0"/>
              <a:t>– ytalo.cristian@ufrpe.br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464100" y="3066334"/>
            <a:ext cx="8520600" cy="20771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endParaRPr lang="pt-BR" sz="2000" dirty="0" smtClean="0"/>
          </a:p>
          <a:p>
            <a:pPr marL="0" lvl="0" indent="0"/>
            <a:r>
              <a:rPr lang="pt-BR" sz="1800" dirty="0" smtClean="0"/>
              <a:t>Fonte </a:t>
            </a:r>
            <a:r>
              <a:rPr lang="pt-BR" sz="1800" dirty="0"/>
              <a:t>dos Dados: </a:t>
            </a:r>
            <a:r>
              <a:rPr lang="pt-BR" sz="1800" dirty="0" smtClean="0"/>
              <a:t>https</a:t>
            </a:r>
            <a:r>
              <a:rPr lang="pt-BR" sz="1800" dirty="0"/>
              <a:t>://</a:t>
            </a:r>
            <a:r>
              <a:rPr lang="pt-BR" sz="1800" dirty="0" smtClean="0"/>
              <a:t>www.kaggle.com/datasets/olistbr/brazilian-ecommerce</a:t>
            </a:r>
            <a:endParaRPr sz="1800" dirty="0"/>
          </a:p>
          <a:p>
            <a:pPr marL="0" lvl="0" indent="0"/>
            <a:r>
              <a:rPr lang="pt-BR" sz="1800" dirty="0"/>
              <a:t>Aplicação OLAP: </a:t>
            </a:r>
            <a:r>
              <a:rPr lang="pt-BR" sz="1800" dirty="0">
                <a:hlinkClick r:id="rId3"/>
              </a:rPr>
              <a:t>https://</a:t>
            </a:r>
            <a:r>
              <a:rPr lang="pt-BR" sz="1800" dirty="0" smtClean="0">
                <a:hlinkClick r:id="rId3"/>
              </a:rPr>
              <a:t>www.microsoft.com/pt-br/download/details.aspx?id=58494</a:t>
            </a:r>
            <a:endParaRPr lang="pt-BR" sz="1800" dirty="0" smtClean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1 - PLANEJAMENTO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pt-BR"/>
              <a:t>Contextualização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pt-BR" b="1" dirty="0"/>
              <a:t>Descrição da área de negócio:</a:t>
            </a:r>
            <a:endParaRPr lang="pt-BR" dirty="0"/>
          </a:p>
          <a:p>
            <a:r>
              <a:rPr lang="pt-BR" dirty="0"/>
              <a:t>Varejo online (E-commerce). O projeto foca na análise transacional de vendas realizadas no </a:t>
            </a:r>
            <a:r>
              <a:rPr lang="pt-BR" dirty="0" err="1"/>
              <a:t>marketplace</a:t>
            </a:r>
            <a:r>
              <a:rPr lang="pt-BR" dirty="0"/>
              <a:t> da </a:t>
            </a:r>
            <a:r>
              <a:rPr lang="pt-BR" dirty="0" err="1"/>
              <a:t>Olist</a:t>
            </a:r>
            <a:r>
              <a:rPr lang="pt-BR" dirty="0"/>
              <a:t>, englobando o ciclo de pedido, produto e cliente.</a:t>
            </a: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2"/>
            </a:pPr>
            <a:r>
              <a:rPr lang="pt-BR"/>
              <a:t>Escopo/objetivo do Data Mart</a:t>
            </a:r>
            <a:endParaRPr/>
          </a:p>
        </p:txBody>
      </p:sp>
      <p:sp>
        <p:nvSpPr>
          <p:cNvPr id="3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262612"/>
            <a:ext cx="781294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Construir um Data Mart para centralizar dados históricos de vendas (2016 a 2018).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Objetivo: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Permitir a análise de faturamento por categoria de produto, distribuição geográfica de clientes e sazonalidade de vendas ao longo do tempo.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3"/>
            </a:pPr>
            <a:r>
              <a:rPr lang="pt-BR"/>
              <a:t>Arquitetura Tecnológica</a:t>
            </a:r>
            <a:endParaRPr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0600" y="114372"/>
            <a:ext cx="8521700" cy="341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Origem: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Arquivos Planos (CSV).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ETL: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Pentaho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</a:t>
            </a:r>
            <a:r>
              <a:rPr kumimoji="0" lang="pt-BR" altLang="pt-B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Integration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(PDI/</a:t>
            </a:r>
            <a:r>
              <a:rPr kumimoji="0" lang="pt-BR" altLang="pt-B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Spoon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v10.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DW (Armazenamento):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PostgreSQL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(Banco Relacional).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OLAP/Visualização: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Power BI.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4"/>
            </a:pPr>
            <a:r>
              <a:rPr lang="pt-BR"/>
              <a:t>Processo</a:t>
            </a:r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pt-BR" dirty="0"/>
              <a:t>Extração dos dados brutos -&gt; Limpeza e Tratamento no </a:t>
            </a:r>
            <a:r>
              <a:rPr lang="pt-BR" dirty="0" err="1"/>
              <a:t>Pentaho</a:t>
            </a:r>
            <a:r>
              <a:rPr lang="pt-BR" dirty="0"/>
              <a:t> -&gt; Carga em Esquema Estrela no </a:t>
            </a:r>
            <a:r>
              <a:rPr lang="pt-BR" dirty="0" err="1"/>
              <a:t>Postgres</a:t>
            </a:r>
            <a:r>
              <a:rPr lang="pt-BR" dirty="0"/>
              <a:t> -&gt; Conexão e </a:t>
            </a:r>
            <a:r>
              <a:rPr lang="pt-BR" dirty="0" err="1"/>
              <a:t>Dashboard</a:t>
            </a:r>
            <a:r>
              <a:rPr lang="pt-BR" dirty="0"/>
              <a:t> no Power BI.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4"/>
            </a:pPr>
            <a:r>
              <a:rPr lang="pt-BR"/>
              <a:t>Abordagem</a:t>
            </a:r>
            <a:endParaRPr/>
          </a:p>
        </p:txBody>
      </p:sp>
      <p:sp>
        <p:nvSpPr>
          <p:cNvPr id="4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298979"/>
            <a:ext cx="725726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dirty="0"/>
              <a:t> </a:t>
            </a:r>
            <a:r>
              <a:rPr lang="pt-BR" altLang="pt-BR" dirty="0" err="1"/>
              <a:t>Bottom-up</a:t>
            </a:r>
            <a:r>
              <a:rPr lang="pt-BR" altLang="pt-BR" dirty="0"/>
              <a:t> (</a:t>
            </a:r>
            <a:r>
              <a:rPr lang="pt-BR" altLang="pt-BR" dirty="0" smtClean="0"/>
              <a:t>Foco </a:t>
            </a:r>
            <a:r>
              <a:rPr lang="pt-BR" altLang="pt-BR" dirty="0"/>
              <a:t>em resolver um processo específico: Vendas).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dirty="0"/>
              <a:t> </a:t>
            </a:r>
            <a:r>
              <a:rPr lang="pt-BR" altLang="pt-BR" dirty="0"/>
              <a:t>Star </a:t>
            </a:r>
            <a:r>
              <a:rPr lang="pt-BR" altLang="pt-BR" dirty="0" err="1"/>
              <a:t>Schema</a:t>
            </a:r>
            <a:r>
              <a:rPr lang="pt-BR" altLang="pt-BR" dirty="0"/>
              <a:t> (Esquema Estrela) - Fato no centro e dimensões ao redor, </a:t>
            </a:r>
            <a:r>
              <a:rPr lang="pt-BR" altLang="pt-BR" dirty="0" err="1"/>
              <a:t>desnormalizado</a:t>
            </a:r>
            <a:r>
              <a:rPr lang="pt-BR" altLang="pt-BR" dirty="0"/>
              <a:t> para performance de leitura.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5"/>
            </a:pPr>
            <a:r>
              <a:rPr lang="pt-BR"/>
              <a:t>Usuários</a:t>
            </a:r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1600"/>
              </a:spcAft>
              <a:buNone/>
            </a:pPr>
            <a:r>
              <a:rPr lang="pt-BR" dirty="0"/>
              <a:t>Gerentes de Vendas, Analistas de E-commerce e Gestores Regionais.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2 - LEVANTAMENTO DAS NECESSIDADES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6"/>
            </a:pPr>
            <a:r>
              <a:rPr lang="pt-BR" dirty="0"/>
              <a:t>Consultas de Apoio à </a:t>
            </a:r>
            <a:r>
              <a:rPr lang="pt-BR" dirty="0" smtClean="0"/>
              <a:t>Decisão</a:t>
            </a:r>
            <a:br>
              <a:rPr lang="pt-BR" dirty="0" smtClean="0"/>
            </a:br>
            <a:r>
              <a:rPr lang="pt-BR" dirty="0"/>
              <a:t/>
            </a:r>
            <a:br>
              <a:rPr lang="pt-BR" dirty="0"/>
            </a:br>
            <a:endParaRPr dirty="0"/>
          </a:p>
        </p:txBody>
      </p:sp>
      <p:sp>
        <p:nvSpPr>
          <p:cNvPr id="108" name="Google Shape;108;p22"/>
          <p:cNvSpPr txBox="1">
            <a:spLocks noGrp="1"/>
          </p:cNvSpPr>
          <p:nvPr>
            <p:ph type="body" idx="1"/>
          </p:nvPr>
        </p:nvSpPr>
        <p:spPr>
          <a:xfrm>
            <a:off x="373576" y="445024"/>
            <a:ext cx="8520600" cy="28413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lang="pt-BR" dirty="0" smtClean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lang="pt-BR" dirty="0"/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373576" y="939879"/>
            <a:ext cx="670786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Quais categorias de produtos geram maior faturamento?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Qual é a concentração de vendas por Estado (UF)?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Como as vendas evoluíram mês a mês nos últimos anos?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7"/>
            </a:pPr>
            <a:r>
              <a:rPr lang="pt-BR"/>
              <a:t>Indicadores do &lt;negócio&gt;</a:t>
            </a:r>
            <a:endParaRPr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0600" y="-78134"/>
            <a:ext cx="8521700" cy="341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Valor Total de Vendas (Faturamento):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Soma do preço dos produtos vendidos.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Valor de Frete: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Soma do custo de envio.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Quantidade de Pedidos: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Volume total de transações.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310600" y="4220817"/>
            <a:ext cx="723460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Fonte: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"Análise exploratória do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Brazilian</a:t>
            </a:r>
            <a:r>
              <a:rPr kumimoji="0" lang="pt-BR" altLang="pt-BR" sz="12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E-Commerce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</a:t>
            </a:r>
            <a:r>
              <a:rPr kumimoji="0" lang="pt-BR" altLang="pt-BR" sz="12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</a:t>
            </a:r>
            <a:r>
              <a:rPr kumimoji="0" lang="pt-BR" altLang="pt-BR" sz="12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pt-BR" altLang="pt-BR" sz="12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Olist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Kaggle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 Os indicadores foram derivados diretamente das colunas transacionais dos arquivos 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olist_order_items_dataset.csv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(campos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price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e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freight_value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 e 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olist_orders_dataset.csv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." 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3 - MODELAGEM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9"/>
            </a:pPr>
            <a:r>
              <a:rPr lang="pt-BR"/>
              <a:t>Modelo Relacional</a:t>
            </a:r>
            <a:endParaRPr/>
          </a:p>
        </p:txBody>
      </p:sp>
      <p:sp>
        <p:nvSpPr>
          <p:cNvPr id="127" name="Google Shape;127;p25"/>
          <p:cNvSpPr txBox="1"/>
          <p:nvPr/>
        </p:nvSpPr>
        <p:spPr>
          <a:xfrm>
            <a:off x="311700" y="4703625"/>
            <a:ext cx="7335600" cy="3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BR" b="1" dirty="0"/>
              <a:t>https://www.kaggle.com/datasets/olistbr/brazilian-ecommerce</a:t>
            </a:r>
            <a:endParaRPr b="1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300408"/>
            <a:ext cx="742343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modelo relacional de origem é composto por um conjunto de 8 arquivos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CSVs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interconectados que representam o banco de dados transacional da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Olist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A estrutura central gira em torno da entidade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Orders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(Pedidos), que se conecta a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Order_Items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(detalhes do produto e preço),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(dados demográficos do cliente) e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Products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(catálogo de itens). O modelo está normalizado (3FN), otimizado para operações transacionais (OLTP). </a:t>
            </a: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 dirty="0"/>
              <a:t>Modelo Dimensional</a:t>
            </a:r>
            <a:endParaRPr dirty="0"/>
          </a:p>
        </p:txBody>
      </p:sp>
      <p:sp>
        <p:nvSpPr>
          <p:cNvPr id="133" name="Google Shape;133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57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/>
            </a:pPr>
            <a:r>
              <a:rPr lang="pt-BR" dirty="0"/>
              <a:t>Área de </a:t>
            </a:r>
            <a:r>
              <a:rPr lang="pt-BR" dirty="0" smtClean="0"/>
              <a:t>Negócios:</a:t>
            </a:r>
          </a:p>
          <a:p>
            <a:pPr marL="114300" lvl="0" indent="0">
              <a:buNone/>
            </a:pPr>
            <a:r>
              <a:rPr lang="pt-BR" dirty="0"/>
              <a:t>Comercial / E-commerce (Vendas e Faturamento</a:t>
            </a:r>
            <a:r>
              <a:rPr lang="pt-BR" dirty="0" smtClean="0"/>
              <a:t>).</a:t>
            </a:r>
            <a:endParaRPr dirty="0"/>
          </a:p>
          <a:p>
            <a:pPr marL="114300" lvl="0" indent="0" algn="l" rtl="0"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lang="pt-BR" dirty="0" smtClean="0"/>
              <a:t>B. </a:t>
            </a:r>
            <a:r>
              <a:rPr lang="pt-BR" dirty="0" smtClean="0"/>
              <a:t>Processo: </a:t>
            </a:r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pt-BR"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114300" indent="0">
              <a:buNone/>
            </a:pPr>
            <a:r>
              <a:rPr lang="pt-BR" dirty="0" smtClean="0"/>
              <a:t>C. Granularidade</a:t>
            </a:r>
            <a:r>
              <a:rPr lang="pt-BR" dirty="0"/>
              <a:t>:</a:t>
            </a:r>
          </a:p>
          <a:p>
            <a:pPr marL="114300" indent="0">
              <a:buFont typeface="Arial"/>
              <a:buNone/>
            </a:pPr>
            <a:r>
              <a:rPr lang="pt-BR" dirty="0"/>
              <a:t>A granularidade da tabela fato é o Item do Pedido. Isso significa que cada linha na tabela </a:t>
            </a:r>
            <a:r>
              <a:rPr lang="pt-BR" dirty="0" err="1"/>
              <a:t>Fato_Vendas</a:t>
            </a:r>
            <a:r>
              <a:rPr lang="pt-BR" dirty="0"/>
              <a:t> representa um único produto vendido. Se um pedido tiver 3 produtos, haverá 3 linhas na tabela fato.</a:t>
            </a: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387329" y="2267669"/>
            <a:ext cx="6766094" cy="13249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defTabSz="914400" eaLnBrk="0" fontAlgn="base" latinLnBrk="0" hangingPunct="0">
              <a:lnSpc>
                <a:spcPct val="115000"/>
              </a:lnSpc>
              <a:buClr>
                <a:schemeClr val="dk2"/>
              </a:buClr>
              <a:buSzPts val="1800"/>
              <a:buFont typeface="Arial"/>
              <a:buNone/>
              <a:tabLst/>
            </a:pPr>
            <a:r>
              <a:rPr lang="pt-BR" altLang="pt-BR" sz="1800" dirty="0">
                <a:solidFill>
                  <a:schemeClr val="dk2"/>
                </a:solidFill>
              </a:rPr>
              <a:t>O processo de negócio modelado é a Venda de Itens. O Data Mart captura o evento da transação confirmada, registrando cada item vendido dentro de um pedido na plataforma </a:t>
            </a:r>
            <a:r>
              <a:rPr lang="pt-BR" altLang="pt-BR" sz="1800" dirty="0" err="1">
                <a:solidFill>
                  <a:schemeClr val="dk2"/>
                </a:solidFill>
              </a:rPr>
              <a:t>Olist</a:t>
            </a:r>
            <a:r>
              <a:rPr lang="pt-BR" altLang="pt-BR" sz="1800" dirty="0">
                <a:solidFill>
                  <a:schemeClr val="dk2"/>
                </a:solidFill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39" name="Google Shape;139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4"/>
            </a:pPr>
            <a:r>
              <a:rPr lang="pt-BR" dirty="0"/>
              <a:t>Atributos e Hierarquia das </a:t>
            </a:r>
            <a:r>
              <a:rPr lang="pt-BR" dirty="0" smtClean="0"/>
              <a:t>Dimensões: 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414996" y="1514351"/>
            <a:ext cx="6612727" cy="2262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Dimensão </a:t>
            </a:r>
            <a:r>
              <a:rPr lang="pt-BR" altLang="pt-BR" sz="1800" dirty="0">
                <a:solidFill>
                  <a:schemeClr val="dk2"/>
                </a:solidFill>
              </a:rPr>
              <a:t>Tempo: Possui hierarquia natural de calendário: Data </a:t>
            </a:r>
            <a:r>
              <a:rPr lang="pt-BR" altLang="pt-BR" sz="1800" dirty="0" smtClean="0">
                <a:solidFill>
                  <a:schemeClr val="dk2"/>
                </a:solidFill>
              </a:rPr>
              <a:t>&gt; Mês &gt; </a:t>
            </a:r>
            <a:r>
              <a:rPr lang="pt-BR" altLang="pt-BR" sz="1800" dirty="0">
                <a:solidFill>
                  <a:schemeClr val="dk2"/>
                </a:solidFill>
              </a:rPr>
              <a:t>Trimestre &gt;</a:t>
            </a: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>
                <a:solidFill>
                  <a:schemeClr val="dk2"/>
                </a:solidFill>
              </a:rPr>
              <a:t>Ano</a:t>
            </a:r>
            <a:r>
              <a:rPr lang="pt-BR" altLang="pt-BR" sz="1800" dirty="0" smtClean="0">
                <a:solidFill>
                  <a:schemeClr val="dk2"/>
                </a:solidFill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 sz="1800" dirty="0">
              <a:solidFill>
                <a:schemeClr val="dk2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Dimensão </a:t>
            </a:r>
            <a:r>
              <a:rPr lang="pt-BR" altLang="pt-BR" sz="1800" dirty="0">
                <a:solidFill>
                  <a:schemeClr val="dk2"/>
                </a:solidFill>
              </a:rPr>
              <a:t>Cliente: Possui hierarquia geográfica: Cliente Individual &gt;</a:t>
            </a: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>
                <a:solidFill>
                  <a:schemeClr val="dk2"/>
                </a:solidFill>
              </a:rPr>
              <a:t>Cidade &gt;</a:t>
            </a: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>
                <a:solidFill>
                  <a:schemeClr val="dk2"/>
                </a:solidFill>
              </a:rPr>
              <a:t>Estado (UF</a:t>
            </a:r>
            <a:r>
              <a:rPr lang="pt-BR" altLang="pt-BR" sz="1800" dirty="0" smtClean="0">
                <a:solidFill>
                  <a:schemeClr val="dk2"/>
                </a:solidFill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 sz="1800" dirty="0">
              <a:solidFill>
                <a:schemeClr val="dk2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Dimensão </a:t>
            </a:r>
            <a:r>
              <a:rPr lang="pt-BR" altLang="pt-BR" sz="1800" dirty="0">
                <a:solidFill>
                  <a:schemeClr val="dk2"/>
                </a:solidFill>
              </a:rPr>
              <a:t>Produto: Possui hierarquia de catalogação: Produto (SKU) </a:t>
            </a:r>
            <a:r>
              <a:rPr lang="pt-BR" altLang="pt-BR" sz="1800" dirty="0" smtClean="0">
                <a:solidFill>
                  <a:schemeClr val="dk2"/>
                </a:solidFill>
              </a:rPr>
              <a:t>&gt; Categoria</a:t>
            </a:r>
            <a:r>
              <a:rPr lang="pt-BR" altLang="pt-BR" sz="1800" dirty="0">
                <a:solidFill>
                  <a:schemeClr val="dk2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45" name="Google Shape;145;p28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551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5"/>
            </a:pPr>
            <a:r>
              <a:rPr lang="pt-BR" dirty="0"/>
              <a:t>Métricas da </a:t>
            </a:r>
            <a:r>
              <a:rPr lang="pt-BR" dirty="0" smtClean="0"/>
              <a:t>Fato: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435781" y="1499646"/>
            <a:ext cx="6693789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 err="1" smtClean="0">
                <a:solidFill>
                  <a:schemeClr val="dk2"/>
                </a:solidFill>
              </a:rPr>
              <a:t>valor_venda</a:t>
            </a: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>
                <a:solidFill>
                  <a:schemeClr val="dk2"/>
                </a:solidFill>
              </a:rPr>
              <a:t>(Faturamento): Tipo Aditiva. </a:t>
            </a:r>
            <a:r>
              <a:rPr lang="pt-BR" altLang="pt-BR" sz="1800" dirty="0">
                <a:solidFill>
                  <a:schemeClr val="dk2"/>
                </a:solidFill>
              </a:rPr>
              <a:t>(Pode ser somada ao longo de todas as dimensões: tempo, cliente e produto).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 err="1" smtClean="0">
                <a:solidFill>
                  <a:schemeClr val="dk2"/>
                </a:solidFill>
              </a:rPr>
              <a:t>valor_frete</a:t>
            </a:r>
            <a:r>
              <a:rPr lang="pt-BR" altLang="pt-BR" sz="1800" dirty="0">
                <a:solidFill>
                  <a:schemeClr val="dk2"/>
                </a:solidFill>
              </a:rPr>
              <a:t>: Tipo Aditiva. (Pode ser somada para análises de custo logístico).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quantidade</a:t>
            </a:r>
            <a:r>
              <a:rPr lang="pt-BR" altLang="pt-BR" sz="1800" dirty="0">
                <a:solidFill>
                  <a:schemeClr val="dk2"/>
                </a:solidFill>
              </a:rPr>
              <a:t>: Tipo Aditiva. </a:t>
            </a:r>
            <a:r>
              <a:rPr lang="pt-BR" altLang="pt-BR" sz="1800" dirty="0">
                <a:solidFill>
                  <a:schemeClr val="dk2"/>
                </a:solidFill>
              </a:rPr>
              <a:t>(Utilizada para contagem de volume de vendas).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51" name="Google Shape;151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6"/>
            </a:pPr>
            <a:r>
              <a:rPr lang="pt-BR" dirty="0"/>
              <a:t>Esquema </a:t>
            </a:r>
            <a:r>
              <a:rPr lang="pt-BR" dirty="0" smtClean="0"/>
              <a:t>Estrela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6"/>
            </a:pP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826" y="1152475"/>
            <a:ext cx="4930066" cy="38095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57" name="Google Shape;157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7"/>
            </a:pPr>
            <a:r>
              <a:rPr lang="pt-BR" dirty="0"/>
              <a:t>Simulação de inserção de 10 “fatos</a:t>
            </a:r>
            <a:r>
              <a:rPr lang="pt-BR" dirty="0" smtClean="0"/>
              <a:t>”</a:t>
            </a:r>
          </a:p>
          <a:p>
            <a:pPr marL="114300" lvl="0" indent="0">
              <a:buNone/>
            </a:pPr>
            <a:r>
              <a:rPr lang="pt-BR" sz="1400" dirty="0"/>
              <a:t>INSERT INTO </a:t>
            </a:r>
            <a:r>
              <a:rPr lang="pt-BR" sz="1400" dirty="0" err="1"/>
              <a:t>fato_vendas</a:t>
            </a:r>
            <a:r>
              <a:rPr lang="pt-BR" sz="1400" dirty="0"/>
              <a:t> (</a:t>
            </a:r>
            <a:r>
              <a:rPr lang="pt-BR" sz="1400" dirty="0" err="1"/>
              <a:t>sk_cliente</a:t>
            </a:r>
            <a:r>
              <a:rPr lang="pt-BR" sz="1400" dirty="0"/>
              <a:t>, </a:t>
            </a:r>
            <a:r>
              <a:rPr lang="pt-BR" sz="1400" dirty="0" err="1"/>
              <a:t>sk_produto</a:t>
            </a:r>
            <a:r>
              <a:rPr lang="pt-BR" sz="1400" dirty="0"/>
              <a:t>, </a:t>
            </a:r>
            <a:r>
              <a:rPr lang="pt-BR" sz="1400" dirty="0" err="1"/>
              <a:t>sk_tempo</a:t>
            </a:r>
            <a:r>
              <a:rPr lang="pt-BR" sz="1400" dirty="0"/>
              <a:t>, </a:t>
            </a:r>
            <a:r>
              <a:rPr lang="pt-BR" sz="1400" dirty="0" err="1"/>
              <a:t>valor_venda</a:t>
            </a:r>
            <a:r>
              <a:rPr lang="pt-BR" sz="1400" dirty="0"/>
              <a:t>, </a:t>
            </a:r>
            <a:r>
              <a:rPr lang="pt-BR" sz="1400" dirty="0" err="1"/>
              <a:t>valor_frete</a:t>
            </a:r>
            <a:r>
              <a:rPr lang="pt-BR" sz="1400" dirty="0"/>
              <a:t>)</a:t>
            </a:r>
          </a:p>
          <a:p>
            <a:pPr marL="114300" lvl="0" indent="0">
              <a:buNone/>
            </a:pPr>
            <a:r>
              <a:rPr lang="pt-BR" sz="1400" dirty="0"/>
              <a:t>VALUES</a:t>
            </a:r>
          </a:p>
          <a:p>
            <a:pPr marL="114300" lvl="0" indent="0">
              <a:buNone/>
            </a:pPr>
            <a:r>
              <a:rPr lang="pt-BR" sz="1400" dirty="0"/>
              <a:t>    (1024, 501, 20170515, 21.90, 12.69),</a:t>
            </a:r>
          </a:p>
          <a:p>
            <a:pPr marL="114300" lvl="0" indent="0">
              <a:buNone/>
            </a:pPr>
            <a:r>
              <a:rPr lang="pt-BR" sz="1400" dirty="0"/>
              <a:t>    (3055, 122, 20180114, 199.00, 17.87),</a:t>
            </a:r>
          </a:p>
          <a:p>
            <a:pPr marL="114300" lvl="0" indent="0">
              <a:buNone/>
            </a:pPr>
            <a:r>
              <a:rPr lang="pt-BR" sz="1400" dirty="0"/>
              <a:t>    (8901, 334, 20170812, 99.00, 13.71),</a:t>
            </a:r>
          </a:p>
          <a:p>
            <a:pPr marL="114300" lvl="0" indent="0">
              <a:buNone/>
            </a:pPr>
            <a:r>
              <a:rPr lang="pt-BR" sz="1400" dirty="0"/>
              <a:t>    (120,  88,  20180502, 639.00, 11.34),</a:t>
            </a:r>
          </a:p>
          <a:p>
            <a:pPr marL="114300" lvl="0" indent="0">
              <a:buNone/>
            </a:pPr>
            <a:r>
              <a:rPr lang="pt-BR" sz="1400" dirty="0"/>
              <a:t>    (4500, 992, 20171210, 19.90, 11.85),</a:t>
            </a:r>
          </a:p>
          <a:p>
            <a:pPr marL="114300" lvl="0" indent="0">
              <a:buNone/>
            </a:pPr>
            <a:r>
              <a:rPr lang="pt-BR" sz="1400" dirty="0"/>
              <a:t>    (671,  105, 20180704, 810.00, 70.75),</a:t>
            </a:r>
          </a:p>
          <a:p>
            <a:pPr marL="114300" lvl="0" indent="0">
              <a:buNone/>
            </a:pPr>
            <a:r>
              <a:rPr lang="pt-BR" sz="1400" dirty="0"/>
              <a:t>    (2230, 441, 20170913, 58.90, 13.29),</a:t>
            </a:r>
          </a:p>
          <a:p>
            <a:pPr marL="114300" lvl="0" indent="0">
              <a:buNone/>
            </a:pPr>
            <a:r>
              <a:rPr lang="pt-BR" sz="1400" dirty="0"/>
              <a:t>    (112,  67,  20180221, 49.90, 13.37),</a:t>
            </a:r>
          </a:p>
          <a:p>
            <a:pPr marL="114300" lvl="0" indent="0">
              <a:buNone/>
            </a:pPr>
            <a:r>
              <a:rPr lang="pt-BR" sz="1400" dirty="0"/>
              <a:t>    (9901, 202, 20180614, 27.90, 7.94),</a:t>
            </a:r>
          </a:p>
          <a:p>
            <a:pPr marL="114300" lvl="0" indent="0">
              <a:buNone/>
            </a:pPr>
            <a:r>
              <a:rPr lang="pt-BR" sz="1400" dirty="0"/>
              <a:t>    (554,  890, 20171127, 21.99, 11.85);</a:t>
            </a:r>
            <a:endParaRPr sz="1400"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 do Data Mart (lógico)</a:t>
            </a:r>
            <a:endParaRPr/>
          </a:p>
        </p:txBody>
      </p:sp>
      <p:sp>
        <p:nvSpPr>
          <p:cNvPr id="163" name="Google Shape;163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8"/>
            </a:pPr>
            <a:r>
              <a:rPr lang="pt-BR" dirty="0"/>
              <a:t>Estimativa de </a:t>
            </a:r>
            <a:r>
              <a:rPr lang="pt-BR" dirty="0" smtClean="0"/>
              <a:t>espaço</a:t>
            </a:r>
          </a:p>
          <a:p>
            <a:r>
              <a:rPr lang="pt-BR" sz="1600" dirty="0"/>
              <a:t>O Data Mart possui porte pequeno.</a:t>
            </a:r>
          </a:p>
          <a:p>
            <a:r>
              <a:rPr lang="pt-BR" sz="1600" b="1" dirty="0"/>
              <a:t>Tabela Fato:</a:t>
            </a:r>
            <a:r>
              <a:rPr lang="pt-BR" sz="1600" dirty="0"/>
              <a:t> ~113.000 registros.</a:t>
            </a:r>
          </a:p>
          <a:p>
            <a:r>
              <a:rPr lang="pt-BR" sz="1600" b="1" dirty="0"/>
              <a:t>Dimensões:</a:t>
            </a:r>
            <a:r>
              <a:rPr lang="pt-BR" sz="1600" dirty="0"/>
              <a:t> Variam de ~3.000 (Tempo) a ~96.000 (Clientes).</a:t>
            </a:r>
          </a:p>
          <a:p>
            <a:r>
              <a:rPr lang="pt-BR" sz="1600" b="1" dirty="0"/>
              <a:t>Espaço em Disco:</a:t>
            </a:r>
            <a:r>
              <a:rPr lang="pt-BR" sz="1600" dirty="0"/>
              <a:t> Estima-se menos de </a:t>
            </a:r>
            <a:r>
              <a:rPr lang="pt-BR" sz="1600" b="1" dirty="0"/>
              <a:t>100 MB</a:t>
            </a:r>
            <a:r>
              <a:rPr lang="pt-BR" sz="1600" dirty="0"/>
              <a:t> no </a:t>
            </a:r>
            <a:r>
              <a:rPr lang="pt-BR" sz="1600" dirty="0" err="1"/>
              <a:t>PostgreSQL</a:t>
            </a:r>
            <a:r>
              <a:rPr lang="pt-BR" sz="1600" dirty="0"/>
              <a:t>, garantindo alta performance de consulta sem necessidade de </a:t>
            </a:r>
            <a:r>
              <a:rPr lang="pt-BR" sz="1600" dirty="0" err="1"/>
              <a:t>particionamento</a:t>
            </a:r>
            <a:r>
              <a:rPr lang="pt-BR" sz="1600" dirty="0"/>
              <a:t> complexo neste momento.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4 - PROJETO FÍSICO DO BD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1"/>
            </a:pPr>
            <a:r>
              <a:rPr lang="pt-BR" dirty="0"/>
              <a:t>Modelo Relacional do Data Mart (físico)</a:t>
            </a:r>
            <a:endParaRPr dirty="0"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074396"/>
            <a:ext cx="7315397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Tabela Dimensão Cliente (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dim_cliente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 smtClean="0">
                <a:solidFill>
                  <a:schemeClr val="tx1"/>
                </a:solidFill>
              </a:rPr>
              <a:t>CREATE </a:t>
            </a:r>
            <a:r>
              <a:rPr lang="pt-BR" altLang="pt-BR" sz="1200" dirty="0">
                <a:solidFill>
                  <a:schemeClr val="tx1"/>
                </a:solidFill>
              </a:rPr>
              <a:t>TABLE </a:t>
            </a:r>
            <a:r>
              <a:rPr lang="pt-BR" altLang="pt-BR" sz="1200" dirty="0" err="1">
                <a:solidFill>
                  <a:schemeClr val="tx1"/>
                </a:solidFill>
              </a:rPr>
              <a:t>public.dim_cliente</a:t>
            </a:r>
            <a:r>
              <a:rPr lang="pt-BR" altLang="pt-BR" sz="1200" dirty="0">
                <a:solidFill>
                  <a:schemeClr val="tx1"/>
                </a:solidFill>
              </a:rPr>
              <a:t> (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sk_cliente</a:t>
            </a:r>
            <a:r>
              <a:rPr lang="pt-BR" altLang="pt-BR" sz="1200" dirty="0">
                <a:solidFill>
                  <a:schemeClr val="tx1"/>
                </a:solidFill>
              </a:rPr>
              <a:t> SERIAL PRIMARY KEY,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version</a:t>
            </a:r>
            <a:r>
              <a:rPr lang="pt-BR" altLang="pt-BR" sz="1200" dirty="0">
                <a:solidFill>
                  <a:schemeClr val="tx1"/>
                </a:solidFill>
              </a:rPr>
              <a:t> INTEGER,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date_from</a:t>
            </a:r>
            <a:r>
              <a:rPr lang="pt-BR" altLang="pt-BR" sz="1200" dirty="0">
                <a:solidFill>
                  <a:schemeClr val="tx1"/>
                </a:solidFill>
              </a:rPr>
              <a:t> TIMESTAMP,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date_to</a:t>
            </a:r>
            <a:r>
              <a:rPr lang="pt-BR" altLang="pt-BR" sz="1200" dirty="0">
                <a:solidFill>
                  <a:schemeClr val="tx1"/>
                </a:solidFill>
              </a:rPr>
              <a:t> TIMESTAMP,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customer_unique_id</a:t>
            </a:r>
            <a:r>
              <a:rPr lang="pt-BR" altLang="pt-BR" sz="1200" dirty="0">
                <a:solidFill>
                  <a:schemeClr val="tx1"/>
                </a:solidFill>
              </a:rPr>
              <a:t> VARCHAR(32),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cidade VARCHAR(255),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estado VARCHAR(2)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);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pt-BR" altLang="pt-BR" sz="1200" dirty="0">
              <a:solidFill>
                <a:schemeClr val="tx1"/>
              </a:solidFill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CREATE INDEX </a:t>
            </a:r>
            <a:r>
              <a:rPr lang="pt-BR" altLang="pt-BR" sz="1200" dirty="0" err="1">
                <a:solidFill>
                  <a:schemeClr val="tx1"/>
                </a:solidFill>
              </a:rPr>
              <a:t>idx_dim_cliente_lookup</a:t>
            </a:r>
            <a:r>
              <a:rPr lang="pt-BR" altLang="pt-BR" sz="1200" dirty="0">
                <a:solidFill>
                  <a:schemeClr val="tx1"/>
                </a:solidFill>
              </a:rPr>
              <a:t> ON </a:t>
            </a:r>
            <a:r>
              <a:rPr lang="pt-BR" altLang="pt-BR" sz="1200" dirty="0" err="1">
                <a:solidFill>
                  <a:schemeClr val="tx1"/>
                </a:solidFill>
              </a:rPr>
              <a:t>public.dim_cliente</a:t>
            </a:r>
            <a:r>
              <a:rPr lang="pt-BR" altLang="pt-BR" sz="1200" dirty="0">
                <a:solidFill>
                  <a:schemeClr val="tx1"/>
                </a:solidFill>
              </a:rPr>
              <a:t>(</a:t>
            </a:r>
            <a:r>
              <a:rPr lang="pt-BR" altLang="pt-BR" sz="1200" dirty="0" err="1">
                <a:solidFill>
                  <a:schemeClr val="tx1"/>
                </a:solidFill>
              </a:rPr>
              <a:t>customer_unique_id</a:t>
            </a:r>
            <a:r>
              <a:rPr lang="pt-BR" altLang="pt-BR" sz="1200" dirty="0">
                <a:solidFill>
                  <a:schemeClr val="tx1"/>
                </a:solidFill>
              </a:rPr>
              <a:t>);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pt-BR" altLang="pt-B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pt-BR" altLang="pt-B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pt-BR" altLang="pt-B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pt-BR" sz="1400" dirty="0"/>
              <a:t>CREATE TABLE </a:t>
            </a:r>
            <a:r>
              <a:rPr lang="pt-BR" sz="1400" dirty="0" err="1"/>
              <a:t>public.dim_produto</a:t>
            </a:r>
            <a:r>
              <a:rPr lang="pt-BR" sz="1400" dirty="0"/>
              <a:t> (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sk_produto</a:t>
            </a:r>
            <a:r>
              <a:rPr lang="pt-BR" sz="1400" dirty="0"/>
              <a:t> SERIAL PRIMARY KEY,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version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date_from</a:t>
            </a:r>
            <a:r>
              <a:rPr lang="pt-BR" sz="1400" dirty="0"/>
              <a:t> TIMESTAMP,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date_to</a:t>
            </a:r>
            <a:r>
              <a:rPr lang="pt-BR" sz="1400" dirty="0"/>
              <a:t> TIMESTAMP,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id_produto_origem</a:t>
            </a:r>
            <a:r>
              <a:rPr lang="pt-BR" sz="1400" dirty="0"/>
              <a:t> VARCHAR(32),</a:t>
            </a:r>
          </a:p>
          <a:p>
            <a:pPr marL="114300" indent="0">
              <a:buNone/>
            </a:pPr>
            <a:r>
              <a:rPr lang="pt-BR" sz="1400" dirty="0"/>
              <a:t>    categoria VARCHAR(255),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peso_g</a:t>
            </a:r>
            <a:r>
              <a:rPr lang="pt-BR" sz="1400" dirty="0"/>
              <a:t> DOUBLE PRECISION</a:t>
            </a:r>
          </a:p>
          <a:p>
            <a:pPr marL="114300" indent="0">
              <a:buNone/>
            </a:pPr>
            <a:r>
              <a:rPr lang="pt-BR" sz="1400" dirty="0"/>
              <a:t>);</a:t>
            </a:r>
          </a:p>
          <a:p>
            <a:pPr marL="114300" indent="0">
              <a:buNone/>
            </a:pPr>
            <a:endParaRPr lang="pt-BR" sz="1400" dirty="0"/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idx_dim_produto_lookup</a:t>
            </a:r>
            <a:r>
              <a:rPr lang="pt-BR" sz="1400" dirty="0"/>
              <a:t> ON </a:t>
            </a:r>
            <a:r>
              <a:rPr lang="pt-BR" sz="1400" dirty="0" err="1"/>
              <a:t>public.dim_produto</a:t>
            </a:r>
            <a:r>
              <a:rPr lang="pt-BR" sz="1400" dirty="0"/>
              <a:t>(</a:t>
            </a:r>
            <a:r>
              <a:rPr lang="pt-BR" sz="1400" dirty="0" err="1"/>
              <a:t>id_produto_origem</a:t>
            </a:r>
            <a:r>
              <a:rPr lang="pt-BR" sz="1400" dirty="0"/>
              <a:t>);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11700" y="562098"/>
            <a:ext cx="418736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Tabela Dimensão Produto (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dim_produto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9893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311700" y="953094"/>
            <a:ext cx="8520600" cy="3416400"/>
          </a:xfrm>
        </p:spPr>
        <p:txBody>
          <a:bodyPr/>
          <a:lstStyle/>
          <a:p>
            <a:pPr marL="114300" indent="0">
              <a:buNone/>
            </a:pPr>
            <a:r>
              <a:rPr lang="pt-BR" sz="1400" dirty="0"/>
              <a:t>CREATE TABLE </a:t>
            </a:r>
            <a:r>
              <a:rPr lang="pt-BR" sz="1400" dirty="0" err="1"/>
              <a:t>public.dim_tempo</a:t>
            </a:r>
            <a:r>
              <a:rPr lang="pt-BR" sz="1400" dirty="0"/>
              <a:t> (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sk_tempo</a:t>
            </a:r>
            <a:r>
              <a:rPr lang="pt-BR" sz="1400" dirty="0"/>
              <a:t> SERIAL PRIMARY KEY,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data_completa</a:t>
            </a:r>
            <a:r>
              <a:rPr lang="pt-BR" sz="1400" dirty="0"/>
              <a:t> DATE,</a:t>
            </a:r>
          </a:p>
          <a:p>
            <a:pPr marL="114300" indent="0">
              <a:buNone/>
            </a:pPr>
            <a:r>
              <a:rPr lang="pt-BR" sz="1400" dirty="0"/>
              <a:t>    ano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mes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dia INTEGER,</a:t>
            </a:r>
          </a:p>
          <a:p>
            <a:pPr marL="114300" indent="0">
              <a:buNone/>
            </a:pPr>
            <a:r>
              <a:rPr lang="pt-BR" sz="1400" dirty="0"/>
              <a:t>    trimestre INTEGER</a:t>
            </a:r>
          </a:p>
          <a:p>
            <a:pPr marL="114300" indent="0">
              <a:buNone/>
            </a:pPr>
            <a:r>
              <a:rPr lang="pt-BR" sz="1400" dirty="0"/>
              <a:t>);</a:t>
            </a:r>
          </a:p>
          <a:p>
            <a:pPr marL="114300" indent="0">
              <a:buNone/>
            </a:pPr>
            <a:endParaRPr lang="pt-BR" sz="1400" dirty="0"/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idx_dim_tempo_lookup</a:t>
            </a:r>
            <a:r>
              <a:rPr lang="pt-BR" sz="1400" dirty="0"/>
              <a:t> ON </a:t>
            </a:r>
            <a:r>
              <a:rPr lang="pt-BR" sz="1400" dirty="0" err="1"/>
              <a:t>public.dim_tempo</a:t>
            </a:r>
            <a:r>
              <a:rPr lang="pt-BR" sz="1400" dirty="0"/>
              <a:t>(</a:t>
            </a:r>
            <a:r>
              <a:rPr lang="pt-BR" sz="1400" dirty="0" err="1"/>
              <a:t>data_completa</a:t>
            </a:r>
            <a:r>
              <a:rPr lang="pt-BR" sz="1400" dirty="0"/>
              <a:t>);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11700" y="423599"/>
            <a:ext cx="4120039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 Tabela Dimensão Tempo (</a:t>
            </a:r>
            <a:r>
              <a:rPr kumimoji="0" lang="pt-BR" altLang="pt-BR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dim_tempo</a:t>
            </a:r>
            <a:r>
              <a:rPr kumimoji="0" lang="pt-BR" altLang="pt-BR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pt-BR" altLang="pt-BR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5111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311700" y="932469"/>
            <a:ext cx="8520600" cy="3416400"/>
          </a:xfrm>
        </p:spPr>
        <p:txBody>
          <a:bodyPr/>
          <a:lstStyle/>
          <a:p>
            <a:pPr marL="114300" indent="0">
              <a:buNone/>
            </a:pPr>
            <a:r>
              <a:rPr lang="pt-BR" sz="1400" dirty="0"/>
              <a:t>CREATE TABLE </a:t>
            </a:r>
            <a:r>
              <a:rPr lang="pt-BR" sz="1400" dirty="0" err="1"/>
              <a:t>public.fato_vendas</a:t>
            </a:r>
            <a:r>
              <a:rPr lang="pt-BR" sz="1400" dirty="0"/>
              <a:t> (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sk_cliente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sk_produto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sk_tempo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valor_venda</a:t>
            </a:r>
            <a:r>
              <a:rPr lang="pt-BR" sz="1400" dirty="0"/>
              <a:t> NUMERIC(10,2),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valor_frete</a:t>
            </a:r>
            <a:r>
              <a:rPr lang="pt-BR" sz="1400" dirty="0"/>
              <a:t> NUMERIC(10,2)</a:t>
            </a:r>
          </a:p>
          <a:p>
            <a:pPr marL="114300" indent="0">
              <a:buNone/>
            </a:pPr>
            <a:r>
              <a:rPr lang="pt-BR" sz="1400" dirty="0"/>
              <a:t>);</a:t>
            </a:r>
          </a:p>
          <a:p>
            <a:pPr marL="114300" indent="0">
              <a:buNone/>
            </a:pPr>
            <a:endParaRPr lang="pt-BR" sz="1400" dirty="0"/>
          </a:p>
          <a:p>
            <a:pPr marL="114300" indent="0">
              <a:buNone/>
            </a:pPr>
            <a:r>
              <a:rPr lang="pt-BR" sz="1400" dirty="0"/>
              <a:t>-- Criação de Índices para Performance de </a:t>
            </a:r>
            <a:r>
              <a:rPr lang="pt-BR" sz="1400" dirty="0" err="1"/>
              <a:t>Joins</a:t>
            </a:r>
            <a:endParaRPr lang="pt-BR" sz="1400" dirty="0"/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idx_fato_cliente</a:t>
            </a:r>
            <a:r>
              <a:rPr lang="pt-BR" sz="1400" dirty="0"/>
              <a:t> ON </a:t>
            </a:r>
            <a:r>
              <a:rPr lang="pt-BR" sz="1400" dirty="0" err="1"/>
              <a:t>public.fato_vendas</a:t>
            </a:r>
            <a:r>
              <a:rPr lang="pt-BR" sz="1400" dirty="0"/>
              <a:t>(</a:t>
            </a:r>
            <a:r>
              <a:rPr lang="pt-BR" sz="1400" dirty="0" err="1"/>
              <a:t>sk_cliente</a:t>
            </a:r>
            <a:r>
              <a:rPr lang="pt-BR" sz="1400" dirty="0"/>
              <a:t>);</a:t>
            </a:r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idx_fato_produto</a:t>
            </a:r>
            <a:r>
              <a:rPr lang="pt-BR" sz="1400" dirty="0"/>
              <a:t> ON </a:t>
            </a:r>
            <a:r>
              <a:rPr lang="pt-BR" sz="1400" dirty="0" err="1"/>
              <a:t>public.fato_vendas</a:t>
            </a:r>
            <a:r>
              <a:rPr lang="pt-BR" sz="1400" dirty="0"/>
              <a:t>(</a:t>
            </a:r>
            <a:r>
              <a:rPr lang="pt-BR" sz="1400" dirty="0" err="1"/>
              <a:t>sk_produto</a:t>
            </a:r>
            <a:r>
              <a:rPr lang="pt-BR" sz="1400" dirty="0"/>
              <a:t>);</a:t>
            </a:r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idx_fato_tempo</a:t>
            </a:r>
            <a:r>
              <a:rPr lang="pt-BR" sz="1400" dirty="0"/>
              <a:t> ON </a:t>
            </a:r>
            <a:r>
              <a:rPr lang="pt-BR" sz="1400" dirty="0" err="1"/>
              <a:t>public.fato_vendas</a:t>
            </a:r>
            <a:r>
              <a:rPr lang="pt-BR" sz="1400" dirty="0"/>
              <a:t>(</a:t>
            </a:r>
            <a:r>
              <a:rPr lang="pt-BR" sz="1400" dirty="0" err="1"/>
              <a:t>sk_tempo</a:t>
            </a:r>
            <a:r>
              <a:rPr lang="pt-BR" sz="1400" dirty="0"/>
              <a:t>);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11700" y="423599"/>
            <a:ext cx="3730508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Tabela Fato Vendas (</a:t>
            </a:r>
            <a:r>
              <a:rPr kumimoji="0" lang="pt-BR" altLang="pt-BR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fato_vendas</a:t>
            </a:r>
            <a:r>
              <a:rPr kumimoji="0" lang="pt-BR" altLang="pt-BR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pt-BR" altLang="pt-BR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28275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4"/>
          <p:cNvSpPr txBox="1">
            <a:spLocks noGrp="1"/>
          </p:cNvSpPr>
          <p:nvPr>
            <p:ph type="title"/>
          </p:nvPr>
        </p:nvSpPr>
        <p:spPr>
          <a:xfrm>
            <a:off x="311700" y="1702550"/>
            <a:ext cx="8520600" cy="12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5 - EXTRAÇÃO, TRANSFORMAÇÃO E CARGA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2"/>
            </a:pPr>
            <a:r>
              <a:rPr lang="pt-BR"/>
              <a:t>Plano de Carga da Dimensão Tempo</a:t>
            </a:r>
            <a:endParaRPr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28905" y="897195"/>
            <a:ext cx="6989423" cy="2739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Objetivo: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Criar um calendário mestre para suportar análises temporais.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Estratégia de Extração: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Geração de dados interna (sem fonte externa). 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Fluxo de Transformação: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Generate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Rows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Geração de 3.000 linhas iniciadas em 01/01/2016.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Sequence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Criação de um contador incremental.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Calculator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Soma do contador à data inicial para gerar a data corrente. Extração dos atributos derivados: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Mês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Dia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Trimestre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Dimension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 Alvo: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dim_tempo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data_completa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3"/>
            </a:pPr>
            <a:r>
              <a:rPr lang="pt-BR" dirty="0"/>
              <a:t>Plano de Carga da Dimensão </a:t>
            </a:r>
            <a:r>
              <a:rPr lang="pt-BR" dirty="0" smtClean="0"/>
              <a:t>Cliente</a:t>
            </a:r>
            <a:endParaRPr dirty="0"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1266" y="1234872"/>
            <a:ext cx="6830183" cy="2893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Objetivo: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Carregar a base de consumidores únicos, normalizando a geografia. 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Fonte de Dados: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olist_customers_dataset.csv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Fluxo de Transformação: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CSV File Input: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Leitura do arquivo de clientes.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Sort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Rows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Ordenação pelo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customer_unique_id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Unique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Rows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Remoção de duplicatas para garantir que cada cliente único apareça apenas uma vez, independente de quantas compras fez.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Dimension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 Alvo: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dim_cliente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 de Negócio (Business Key):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customer_unique_id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 Substituta (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Surrogate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Key):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sk_cliente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Auto-incremental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4"/>
            </a:pPr>
            <a:r>
              <a:rPr lang="pt-BR" dirty="0"/>
              <a:t>Plano de Carga da Dimensão </a:t>
            </a:r>
            <a:r>
              <a:rPr lang="pt-BR" dirty="0" smtClean="0"/>
              <a:t>Produto</a:t>
            </a:r>
            <a:endParaRPr dirty="0"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6097" y="1017725"/>
            <a:ext cx="6590345" cy="2739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Objetivo: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Catalogar os itens vendidos e suas categorias.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Fonte de Dados: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olist_products_dataset.csv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Fluxo de Transformação: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CSV File Input: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Leitura do catálogo de produtos.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Cleaning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Tratamento de categorias nulas (substituição por "Não Informado") e normalização de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strings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substituição de "_" por espaço). 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Dimension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 Alvo: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dim_produto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 de Negócio: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product_id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(Original da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Olist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 Substituta: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sk_produto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8"/>
          <p:cNvSpPr txBox="1">
            <a:spLocks noGrp="1"/>
          </p:cNvSpPr>
          <p:nvPr>
            <p:ph type="title"/>
          </p:nvPr>
        </p:nvSpPr>
        <p:spPr>
          <a:xfrm>
            <a:off x="311700" y="233756"/>
            <a:ext cx="8520600" cy="5912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5"/>
            </a:pPr>
            <a:r>
              <a:rPr lang="pt-BR" dirty="0"/>
              <a:t>Plano de Carga da Fato</a:t>
            </a:r>
            <a:endParaRPr dirty="0"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5464" y="825023"/>
            <a:ext cx="6900422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Objetivo: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Consolidar as transações de venda com as chaves das dimensões.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Fontes de Dados: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olist_orders_dataset.csv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(Cabeçalho) e 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olist_order_items_dataset.csv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(Detalhes).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Fluxo de Transformação: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Merge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Join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Leitura e ordenação das duas fontes, seguida de junção (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Inner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Join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pela chave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order_id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para unificar pedido e produto.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Select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Values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Calculator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Limpeza do campo de data (remoção de hora/minuto) para garantir integridade com a Dimensão Tempo.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Stream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"Ponte" para traduzir o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customer_id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(do pedido) para o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customer_unique_id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(do cadastro único), utilizando o arquivo de clientes como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lookup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em memória.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Database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Lookups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(Sequenciais):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Busca das chaves substitutas (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SKs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no Banco de Dados: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Busca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sk_cliente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na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dim_cliente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Busca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sk_produto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na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dim_produto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Busca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sk_tempo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na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dim_tempo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457200" marR="0" lvl="1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Carga: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Table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Output.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 Alvo: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fato_vendas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Método: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Insert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Truncate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(limpeza prévia da tabela para evitar duplicidade em recargas de desenvolvimento).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9"/>
          <p:cNvSpPr txBox="1">
            <a:spLocks noGrp="1"/>
          </p:cNvSpPr>
          <p:nvPr>
            <p:ph type="title"/>
          </p:nvPr>
        </p:nvSpPr>
        <p:spPr>
          <a:xfrm>
            <a:off x="311700" y="1702550"/>
            <a:ext cx="8520600" cy="12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6 - APLICAÇÃO OLAP e PAINEL DE BORDO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 dirty="0"/>
              <a:t>Consulta OLAP 1</a:t>
            </a:r>
            <a:endParaRPr dirty="0"/>
          </a:p>
        </p:txBody>
      </p:sp>
      <p:sp>
        <p:nvSpPr>
          <p:cNvPr id="214" name="Google Shape;214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57792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-457200">
              <a:buNone/>
            </a:pPr>
            <a:r>
              <a:rPr lang="pt-BR" dirty="0"/>
              <a:t>Análise de Performance por </a:t>
            </a:r>
            <a:r>
              <a:rPr lang="pt-BR" dirty="0" smtClean="0"/>
              <a:t>Produto</a:t>
            </a:r>
          </a:p>
          <a:p>
            <a:pPr marL="0" lvl="0" indent="0" algn="just">
              <a:buNone/>
            </a:pPr>
            <a:r>
              <a:rPr lang="pt-BR" sz="1400" dirty="0"/>
              <a:t>Identificou-se que as categorias </a:t>
            </a:r>
            <a:r>
              <a:rPr lang="pt-BR" sz="1400" b="1" dirty="0"/>
              <a:t>"Beleza e Saúde"</a:t>
            </a:r>
            <a:r>
              <a:rPr lang="pt-BR" sz="1400" dirty="0"/>
              <a:t>, </a:t>
            </a:r>
            <a:r>
              <a:rPr lang="pt-BR" sz="1400" b="1" dirty="0"/>
              <a:t>"Relógios e Presentes"</a:t>
            </a:r>
            <a:r>
              <a:rPr lang="pt-BR" sz="1400" dirty="0"/>
              <a:t> e </a:t>
            </a:r>
            <a:r>
              <a:rPr lang="pt-BR" sz="1400" b="1" dirty="0"/>
              <a:t>"Cama, Mesa e Banho"</a:t>
            </a:r>
            <a:r>
              <a:rPr lang="pt-BR" sz="1400" dirty="0"/>
              <a:t> são os </a:t>
            </a:r>
            <a:r>
              <a:rPr lang="pt-BR" sz="1400" dirty="0" err="1"/>
              <a:t>carros-chefe</a:t>
            </a:r>
            <a:r>
              <a:rPr lang="pt-BR" sz="1400" dirty="0"/>
              <a:t> da empresa, representando a maior fatia da receita bruta no período analisado.</a:t>
            </a:r>
            <a:endParaRPr lang="pt-BR" sz="1400" dirty="0" smtClean="0"/>
          </a:p>
          <a:p>
            <a:pPr lvl="0" indent="-457200">
              <a:buNone/>
            </a:pPr>
            <a:endParaRPr lang="pt-BR" dirty="0" smtClean="0"/>
          </a:p>
          <a:p>
            <a:pPr lvl="0" indent="-457200">
              <a:buNone/>
            </a:pPr>
            <a:endParaRPr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990" y="1316741"/>
            <a:ext cx="4733046" cy="33033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/>
              <a:t>Consulta OLAP 2</a:t>
            </a:r>
            <a:endParaRPr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079" y="1602190"/>
            <a:ext cx="4901221" cy="3226324"/>
          </a:xfrm>
          <a:prstGeom prst="rect">
            <a:avLst/>
          </a:prstGeom>
        </p:spPr>
      </p:pic>
      <p:sp>
        <p:nvSpPr>
          <p:cNvPr id="220" name="Google Shape;220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-457200">
              <a:buNone/>
            </a:pPr>
            <a:r>
              <a:rPr lang="pt-BR" dirty="0"/>
              <a:t>Análise Temporal de </a:t>
            </a:r>
            <a:r>
              <a:rPr lang="pt-BR" dirty="0" smtClean="0"/>
              <a:t>Vendas </a:t>
            </a:r>
            <a:r>
              <a:rPr lang="pt-BR" dirty="0"/>
              <a:t>(Sazonalidade</a:t>
            </a:r>
            <a:r>
              <a:rPr lang="pt-BR" dirty="0" smtClean="0"/>
              <a:t>)</a:t>
            </a:r>
          </a:p>
          <a:p>
            <a:pPr lvl="0" indent="-457200" algn="just">
              <a:buNone/>
            </a:pPr>
            <a:r>
              <a:rPr lang="pt-BR" sz="1400" dirty="0"/>
              <a:t>Observou-se um crescimento consistente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no </a:t>
            </a:r>
            <a:r>
              <a:rPr lang="pt-BR" sz="1400" dirty="0"/>
              <a:t>volume de vendas entre os anos de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2017 </a:t>
            </a:r>
            <a:r>
              <a:rPr lang="pt-BR" sz="1400" dirty="0"/>
              <a:t>e 2018, validando a expansão </a:t>
            </a:r>
            <a:r>
              <a:rPr lang="pt-BR" sz="1400" dirty="0" smtClean="0"/>
              <a:t>da </a:t>
            </a:r>
          </a:p>
          <a:p>
            <a:pPr lvl="0" indent="-457200" algn="just">
              <a:buNone/>
            </a:pPr>
            <a:r>
              <a:rPr lang="pt-BR" sz="1400" dirty="0" smtClean="0"/>
              <a:t>base </a:t>
            </a:r>
            <a:r>
              <a:rPr lang="pt-BR" sz="1400" dirty="0"/>
              <a:t>de clientes da plataforma.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A </a:t>
            </a:r>
            <a:r>
              <a:rPr lang="pt-BR" sz="1400" dirty="0"/>
              <a:t>dimensão de tempo permite "navegar"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(</a:t>
            </a:r>
            <a:r>
              <a:rPr lang="pt-BR" sz="1400" dirty="0" err="1"/>
              <a:t>drill-down</a:t>
            </a:r>
            <a:r>
              <a:rPr lang="pt-BR" sz="1400" dirty="0"/>
              <a:t>) para visualizar picos de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vendas </a:t>
            </a:r>
            <a:r>
              <a:rPr lang="pt-BR" sz="1400" dirty="0"/>
              <a:t>em meses específicos (</a:t>
            </a:r>
            <a:r>
              <a:rPr lang="pt-BR" sz="1400" dirty="0" err="1"/>
              <a:t>ex</a:t>
            </a:r>
            <a:r>
              <a:rPr lang="pt-BR" sz="1400" dirty="0"/>
              <a:t>: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Black </a:t>
            </a:r>
            <a:r>
              <a:rPr lang="pt-BR" sz="1400" dirty="0"/>
              <a:t>Friday).</a:t>
            </a:r>
            <a:endParaRPr lang="pt-BR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2"/>
          <p:cNvSpPr txBox="1">
            <a:spLocks noGrp="1"/>
          </p:cNvSpPr>
          <p:nvPr>
            <p:ph type="title"/>
          </p:nvPr>
        </p:nvSpPr>
        <p:spPr>
          <a:xfrm>
            <a:off x="311700" y="261257"/>
            <a:ext cx="8520600" cy="6050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/>
              <a:t>Consulta OLAP 3</a:t>
            </a:r>
            <a:endParaRPr/>
          </a:p>
        </p:txBody>
      </p:sp>
      <p:sp>
        <p:nvSpPr>
          <p:cNvPr id="226" name="Google Shape;226;p42"/>
          <p:cNvSpPr txBox="1">
            <a:spLocks noGrp="1"/>
          </p:cNvSpPr>
          <p:nvPr>
            <p:ph type="body" idx="1"/>
          </p:nvPr>
        </p:nvSpPr>
        <p:spPr>
          <a:xfrm>
            <a:off x="311700" y="866274"/>
            <a:ext cx="8520600" cy="37026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-368300">
              <a:buNone/>
            </a:pPr>
            <a:r>
              <a:rPr lang="pt-BR" dirty="0"/>
              <a:t>Análise de Distribuição </a:t>
            </a:r>
            <a:r>
              <a:rPr lang="pt-BR" dirty="0" smtClean="0"/>
              <a:t>Geográfica</a:t>
            </a:r>
          </a:p>
          <a:p>
            <a:pPr lvl="0" indent="-368300">
              <a:buNone/>
            </a:pPr>
            <a:endParaRPr lang="pt-BR" dirty="0" smtClean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29" y="-1569"/>
            <a:ext cx="4759671" cy="5145069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72556" y="1015255"/>
            <a:ext cx="3950917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dirty="0" smtClean="0">
                <a:solidFill>
                  <a:schemeClr val="dk2"/>
                </a:solidFill>
              </a:rPr>
              <a:t> Existe </a:t>
            </a:r>
            <a:r>
              <a:rPr lang="pt-BR" altLang="pt-BR" dirty="0">
                <a:solidFill>
                  <a:schemeClr val="dk2"/>
                </a:solidFill>
              </a:rPr>
              <a:t>uma forte concentração de vendas na região Sudeste, especificamente no estado de São Paulo (destacado em </a:t>
            </a:r>
            <a:r>
              <a:rPr lang="pt-BR" altLang="pt-BR" dirty="0" smtClean="0">
                <a:solidFill>
                  <a:schemeClr val="dk2"/>
                </a:solidFill>
              </a:rPr>
              <a:t>vermelho escuro </a:t>
            </a:r>
            <a:r>
              <a:rPr lang="pt-BR" altLang="pt-BR" dirty="0">
                <a:solidFill>
                  <a:schemeClr val="dk2"/>
                </a:solidFill>
              </a:rPr>
              <a:t>no mapa), indicando uma oportunidade logística ou necessidade de expansão de marketing para outras regiões (Norte/Nordeste).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3"/>
          <p:cNvSpPr txBox="1">
            <a:spLocks noGrp="1"/>
          </p:cNvSpPr>
          <p:nvPr>
            <p:ph type="title"/>
          </p:nvPr>
        </p:nvSpPr>
        <p:spPr>
          <a:xfrm>
            <a:off x="311700" y="16314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 dirty="0"/>
              <a:t>Painel </a:t>
            </a:r>
            <a:r>
              <a:rPr lang="pt-BR" dirty="0" smtClean="0"/>
              <a:t>de Bordo </a:t>
            </a:r>
            <a:endParaRPr dirty="0"/>
          </a:p>
        </p:txBody>
      </p:sp>
      <p:sp>
        <p:nvSpPr>
          <p:cNvPr id="232" name="Google Shape;232;p43"/>
          <p:cNvSpPr txBox="1">
            <a:spLocks noGrp="1"/>
          </p:cNvSpPr>
          <p:nvPr>
            <p:ph type="body" idx="1"/>
          </p:nvPr>
        </p:nvSpPr>
        <p:spPr>
          <a:xfrm>
            <a:off x="311700" y="735841"/>
            <a:ext cx="8520600" cy="42349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pt-BR" sz="1400" b="1" dirty="0" err="1"/>
              <a:t>Dashboard</a:t>
            </a:r>
            <a:r>
              <a:rPr lang="pt-BR" sz="1400" b="1" dirty="0"/>
              <a:t> Executivo de Vendas</a:t>
            </a:r>
            <a:r>
              <a:rPr lang="pt-BR" sz="1400" dirty="0"/>
              <a:t> O Painel de Bordo consolida as visões anteriores em uma interface única e interativa no Power BI. O gestor pode clicar no estado "SP" no mapa, e o gráfico de barras filtra automaticamente para mostrar apenas as categorias mais vendidas em São Paulo</a:t>
            </a:r>
            <a:r>
              <a:rPr lang="pt-BR" sz="1400" dirty="0" smtClean="0"/>
              <a:t>.</a:t>
            </a:r>
          </a:p>
          <a:p>
            <a:pPr marL="0" lvl="0" indent="0">
              <a:buNone/>
            </a:pPr>
            <a:endParaRPr sz="14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559739"/>
            <a:ext cx="6364108" cy="358376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4"/>
          <p:cNvSpPr txBox="1">
            <a:spLocks noGrp="1"/>
          </p:cNvSpPr>
          <p:nvPr>
            <p:ph type="title"/>
          </p:nvPr>
        </p:nvSpPr>
        <p:spPr>
          <a:xfrm>
            <a:off x="311700" y="18954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Referências</a:t>
            </a:r>
            <a:endParaRPr dirty="0"/>
          </a:p>
        </p:txBody>
      </p:sp>
      <p:sp>
        <p:nvSpPr>
          <p:cNvPr id="238" name="Google Shape;238;p44"/>
          <p:cNvSpPr txBox="1">
            <a:spLocks noGrp="1"/>
          </p:cNvSpPr>
          <p:nvPr>
            <p:ph type="body" idx="1"/>
          </p:nvPr>
        </p:nvSpPr>
        <p:spPr>
          <a:xfrm>
            <a:off x="311700" y="836217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 dirty="0"/>
              <a:t>Dados </a:t>
            </a:r>
            <a:r>
              <a:rPr lang="pt-BR" dirty="0" smtClean="0"/>
              <a:t>fontes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endParaRPr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456882" y="471277"/>
            <a:ext cx="7617656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>
              <a:solidFill>
                <a:schemeClr val="dk2"/>
              </a:solidFill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r>
              <a:rPr lang="pt-BR" sz="1300" dirty="0">
                <a:solidFill>
                  <a:schemeClr val="dk2"/>
                </a:solidFill>
              </a:rPr>
              <a:t>OLIST</a:t>
            </a:r>
            <a:r>
              <a:rPr lang="pt-BR" sz="1300" dirty="0">
                <a:solidFill>
                  <a:schemeClr val="dk2"/>
                </a:solidFill>
              </a:rPr>
              <a:t>. </a:t>
            </a:r>
            <a:r>
              <a:rPr lang="pt-BR" sz="1300" dirty="0" err="1">
                <a:solidFill>
                  <a:schemeClr val="dk2"/>
                </a:solidFill>
              </a:rPr>
              <a:t>Brazilian</a:t>
            </a:r>
            <a:r>
              <a:rPr lang="pt-BR" sz="1300" dirty="0">
                <a:solidFill>
                  <a:schemeClr val="dk2"/>
                </a:solidFill>
              </a:rPr>
              <a:t> E-Commerce </a:t>
            </a:r>
            <a:r>
              <a:rPr lang="pt-BR" sz="1300" dirty="0" err="1">
                <a:solidFill>
                  <a:schemeClr val="dk2"/>
                </a:solidFill>
              </a:rPr>
              <a:t>Public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Dataset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by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Olist</a:t>
            </a:r>
            <a:r>
              <a:rPr lang="pt-BR" sz="1300" dirty="0">
                <a:solidFill>
                  <a:schemeClr val="dk2"/>
                </a:solidFill>
              </a:rPr>
              <a:t>. </a:t>
            </a:r>
            <a:r>
              <a:rPr lang="pt-BR" sz="1300" dirty="0" err="1">
                <a:solidFill>
                  <a:schemeClr val="dk2"/>
                </a:solidFill>
              </a:rPr>
              <a:t>Kaggle</a:t>
            </a:r>
            <a:r>
              <a:rPr lang="pt-BR" sz="1300" dirty="0">
                <a:solidFill>
                  <a:schemeClr val="dk2"/>
                </a:solidFill>
              </a:rPr>
              <a:t>, 2018. Disponível em: </a:t>
            </a:r>
            <a:r>
              <a:rPr lang="pt-BR" sz="1300" dirty="0">
                <a:solidFill>
                  <a:schemeClr val="dk2"/>
                </a:solidFill>
                <a:hlinkClick r:id="rId3"/>
              </a:rPr>
              <a:t>https://www.kaggle.com/datasets/olistbr/brazilian-ecommerce</a:t>
            </a:r>
            <a:r>
              <a:rPr lang="pt-BR" sz="1300" dirty="0">
                <a:solidFill>
                  <a:schemeClr val="dk2"/>
                </a:solidFill>
              </a:rPr>
              <a:t>. Acesso em: 02 dez. 2025</a:t>
            </a:r>
            <a:r>
              <a:rPr lang="pt-BR" sz="1300" dirty="0">
                <a:solidFill>
                  <a:schemeClr val="dk2"/>
                </a:solidFill>
              </a:rPr>
              <a:t>.</a:t>
            </a:r>
          </a:p>
          <a:p>
            <a:endParaRPr lang="pt-BR" sz="1300" dirty="0">
              <a:solidFill>
                <a:schemeClr val="dk2"/>
              </a:solidFill>
            </a:endParaRPr>
          </a:p>
          <a:p>
            <a:r>
              <a:rPr lang="pt-BR" sz="1300" dirty="0">
                <a:solidFill>
                  <a:schemeClr val="dk2"/>
                </a:solidFill>
              </a:rPr>
              <a:t>Metodologia </a:t>
            </a:r>
            <a:r>
              <a:rPr lang="pt-BR" sz="1300" dirty="0">
                <a:solidFill>
                  <a:schemeClr val="dk2"/>
                </a:solidFill>
              </a:rPr>
              <a:t>(Modelagem Dimensional): KIMBALL, Ralph; ROSS, </a:t>
            </a:r>
            <a:r>
              <a:rPr lang="pt-BR" sz="1300" dirty="0" err="1">
                <a:solidFill>
                  <a:schemeClr val="dk2"/>
                </a:solidFill>
              </a:rPr>
              <a:t>Margy</a:t>
            </a:r>
            <a:r>
              <a:rPr lang="pt-BR" sz="1300" dirty="0">
                <a:solidFill>
                  <a:schemeClr val="dk2"/>
                </a:solidFill>
              </a:rPr>
              <a:t>. The Data </a:t>
            </a:r>
            <a:r>
              <a:rPr lang="pt-BR" sz="1300" dirty="0" err="1">
                <a:solidFill>
                  <a:schemeClr val="dk2"/>
                </a:solidFill>
              </a:rPr>
              <a:t>Warehouse</a:t>
            </a:r>
            <a:r>
              <a:rPr lang="pt-BR" sz="1300" dirty="0">
                <a:solidFill>
                  <a:schemeClr val="dk2"/>
                </a:solidFill>
              </a:rPr>
              <a:t> Toolkit: The </a:t>
            </a:r>
            <a:r>
              <a:rPr lang="pt-BR" sz="1300" dirty="0" err="1">
                <a:solidFill>
                  <a:schemeClr val="dk2"/>
                </a:solidFill>
              </a:rPr>
              <a:t>Definitive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Guide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to</a:t>
            </a:r>
            <a:r>
              <a:rPr lang="pt-BR" sz="1300" dirty="0">
                <a:solidFill>
                  <a:schemeClr val="dk2"/>
                </a:solidFill>
              </a:rPr>
              <a:t> Dimensional </a:t>
            </a:r>
            <a:r>
              <a:rPr lang="pt-BR" sz="1300" dirty="0" err="1">
                <a:solidFill>
                  <a:schemeClr val="dk2"/>
                </a:solidFill>
              </a:rPr>
              <a:t>Modeling</a:t>
            </a:r>
            <a:r>
              <a:rPr lang="pt-BR" sz="1300" dirty="0">
                <a:solidFill>
                  <a:schemeClr val="dk2"/>
                </a:solidFill>
              </a:rPr>
              <a:t>. 3. ed. </a:t>
            </a:r>
            <a:r>
              <a:rPr lang="pt-BR" sz="1300" dirty="0" err="1">
                <a:solidFill>
                  <a:schemeClr val="dk2"/>
                </a:solidFill>
              </a:rPr>
              <a:t>Wiley</a:t>
            </a:r>
            <a:r>
              <a:rPr lang="pt-BR" sz="1300" dirty="0">
                <a:solidFill>
                  <a:schemeClr val="dk2"/>
                </a:solidFill>
              </a:rPr>
              <a:t>, 2013.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altLang="pt-BR" sz="1300" dirty="0" smtClean="0">
                <a:solidFill>
                  <a:schemeClr val="dk2"/>
                </a:solidFill>
              </a:rPr>
              <a:t>O conjunto </a:t>
            </a:r>
            <a:r>
              <a:rPr lang="pt-BR" altLang="pt-BR" sz="1300" dirty="0">
                <a:solidFill>
                  <a:schemeClr val="dk2"/>
                </a:solidFill>
              </a:rPr>
              <a:t>de dados utilizado é público e está disponibilizado sob a licença CC BY-NC-SA 4.0. </a:t>
            </a:r>
            <a:r>
              <a:rPr lang="pt-BR" altLang="pt-BR" sz="1300" dirty="0">
                <a:solidFill>
                  <a:schemeClr val="dk2"/>
                </a:solidFill>
              </a:rPr>
              <a:t>O </a:t>
            </a:r>
            <a:r>
              <a:rPr lang="pt-BR" altLang="pt-BR" sz="1300" dirty="0" err="1">
                <a:solidFill>
                  <a:schemeClr val="dk2"/>
                </a:solidFill>
              </a:rPr>
              <a:t>dataset</a:t>
            </a:r>
            <a:r>
              <a:rPr lang="pt-BR" altLang="pt-BR" sz="1300" dirty="0">
                <a:solidFill>
                  <a:schemeClr val="dk2"/>
                </a:solidFill>
              </a:rPr>
              <a:t> compreende 100 mil pedidos </a:t>
            </a:r>
            <a:r>
              <a:rPr lang="pt-BR" altLang="pt-BR" sz="1300" dirty="0" err="1">
                <a:solidFill>
                  <a:schemeClr val="dk2"/>
                </a:solidFill>
              </a:rPr>
              <a:t>anonimizados</a:t>
            </a:r>
            <a:r>
              <a:rPr lang="pt-BR" altLang="pt-BR" sz="1300" dirty="0">
                <a:solidFill>
                  <a:schemeClr val="dk2"/>
                </a:solidFill>
              </a:rPr>
              <a:t> feitos em vários </a:t>
            </a:r>
            <a:r>
              <a:rPr lang="pt-BR" altLang="pt-BR" sz="1300" dirty="0" err="1">
                <a:solidFill>
                  <a:schemeClr val="dk2"/>
                </a:solidFill>
              </a:rPr>
              <a:t>marketplaces</a:t>
            </a:r>
            <a:r>
              <a:rPr lang="pt-BR" altLang="pt-BR" sz="1300" dirty="0">
                <a:solidFill>
                  <a:schemeClr val="dk2"/>
                </a:solidFill>
              </a:rPr>
              <a:t> no Brasil entre 2016 e 2018.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altLang="pt-BR" sz="1300" dirty="0" smtClean="0">
                <a:solidFill>
                  <a:schemeClr val="dk2"/>
                </a:solidFill>
              </a:rPr>
              <a:t>Arquivos </a:t>
            </a:r>
            <a:r>
              <a:rPr lang="pt-BR" altLang="pt-BR" sz="1300" dirty="0">
                <a:solidFill>
                  <a:schemeClr val="dk2"/>
                </a:solidFill>
              </a:rPr>
              <a:t>utilizados: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300" dirty="0">
                <a:solidFill>
                  <a:schemeClr val="dk2"/>
                </a:solidFill>
              </a:rPr>
              <a:t>olist_customers_dataset.csv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300" dirty="0">
                <a:solidFill>
                  <a:schemeClr val="dk2"/>
                </a:solidFill>
              </a:rPr>
              <a:t>olist_products_dataset.csv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300" dirty="0">
                <a:solidFill>
                  <a:schemeClr val="dk2"/>
                </a:solidFill>
              </a:rPr>
              <a:t>olist_orders_dataset.csv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300" dirty="0" smtClean="0">
                <a:solidFill>
                  <a:schemeClr val="dk2"/>
                </a:solidFill>
              </a:rPr>
              <a:t>olist_order_items_dataset.csv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 sz="1300" dirty="0">
              <a:solidFill>
                <a:schemeClr val="dk2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Anexos</a:t>
            </a:r>
            <a:endParaRPr/>
          </a:p>
        </p:txBody>
      </p:sp>
      <p:sp>
        <p:nvSpPr>
          <p:cNvPr id="244" name="Google Shape;244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pt-BR" altLang="pt-BR" dirty="0"/>
              <a:t>Anexo A: Dicionário de Dados Original (</a:t>
            </a:r>
            <a:r>
              <a:rPr lang="pt-BR" altLang="pt-BR" dirty="0" err="1"/>
              <a:t>Schema</a:t>
            </a:r>
            <a:r>
              <a:rPr lang="pt-BR" altLang="pt-BR" dirty="0"/>
              <a:t> da </a:t>
            </a:r>
            <a:r>
              <a:rPr lang="pt-BR" altLang="pt-BR" dirty="0" err="1"/>
              <a:t>Olist</a:t>
            </a:r>
            <a:r>
              <a:rPr lang="pt-BR" altLang="pt-BR" dirty="0"/>
              <a:t>/</a:t>
            </a:r>
            <a:r>
              <a:rPr lang="pt-BR" altLang="pt-BR" dirty="0" err="1"/>
              <a:t>Kaggle</a:t>
            </a:r>
            <a:r>
              <a:rPr lang="pt-BR" altLang="pt-BR" dirty="0"/>
              <a:t>). </a:t>
            </a:r>
            <a:endParaRPr lang="pt-BR" altLang="pt-BR" dirty="0" smtClean="0"/>
          </a:p>
          <a:p>
            <a:pPr marL="0" indent="0">
              <a:spcAft>
                <a:spcPts val="1600"/>
              </a:spcAft>
              <a:buNone/>
            </a:pPr>
            <a:r>
              <a:rPr lang="pt-BR" altLang="pt-BR" dirty="0" smtClean="0"/>
              <a:t>Link</a:t>
            </a:r>
            <a:r>
              <a:rPr lang="pt-BR" altLang="pt-BR" dirty="0"/>
              <a:t>: </a:t>
            </a:r>
            <a:r>
              <a:rPr lang="pt-BR" altLang="pt-BR" dirty="0">
                <a:hlinkClick r:id="rId3"/>
              </a:rPr>
              <a:t>https://</a:t>
            </a:r>
            <a:r>
              <a:rPr lang="pt-BR" altLang="pt-BR" dirty="0" smtClean="0">
                <a:hlinkClick r:id="rId3"/>
              </a:rPr>
              <a:t>www.kaggle.com/datasets/olistbr/brazilian-ecommerce</a:t>
            </a:r>
            <a:endParaRPr lang="pt-BR" altLang="pt-BR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Apêndices</a:t>
            </a:r>
            <a:endParaRPr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979079"/>
            <a:ext cx="6439735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Apêndice A: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Scripts SQL (DDL) de criação do Banco de Dados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datamart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Apêndice B: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Evidência de Execução do ETL (Print do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Job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Pentaho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 status "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Success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Apêndice C: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Painel de Bordo (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Final exportado em PDF/Imagem.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4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1948</Words>
  <Application>Microsoft Office PowerPoint</Application>
  <PresentationFormat>Apresentação na tela (16:9)</PresentationFormat>
  <Paragraphs>233</Paragraphs>
  <Slides>37</Slides>
  <Notes>34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37</vt:i4>
      </vt:variant>
    </vt:vector>
  </HeadingPairs>
  <TitlesOfParts>
    <vt:vector size="40" baseType="lpstr">
      <vt:lpstr>Arial</vt:lpstr>
      <vt:lpstr>Arial Unicode MS</vt:lpstr>
      <vt:lpstr>Simple Light</vt:lpstr>
      <vt:lpstr>Brazilian E-Commerce Public Dataset </vt:lpstr>
      <vt:lpstr>ETAPA 1 - PLANEJAMENTO</vt:lpstr>
      <vt:lpstr>Contextualização</vt:lpstr>
      <vt:lpstr>Escopo/objetivo do Data Mart</vt:lpstr>
      <vt:lpstr>Arquitetura Tecnológica</vt:lpstr>
      <vt:lpstr>Processo</vt:lpstr>
      <vt:lpstr>Abordagem</vt:lpstr>
      <vt:lpstr>Usuários</vt:lpstr>
      <vt:lpstr>ETAPA 2 - LEVANTAMENTO DAS NECESSIDADES</vt:lpstr>
      <vt:lpstr>Consultas de Apoio à Decisão  </vt:lpstr>
      <vt:lpstr>Indicadores do &lt;negócio&gt; </vt:lpstr>
      <vt:lpstr>ETAPA 3 - MODELAGEM</vt:lpstr>
      <vt:lpstr>Modelo Relacional</vt:lpstr>
      <vt:lpstr>Modelo Dimensional</vt:lpstr>
      <vt:lpstr>Modelo Dimensional</vt:lpstr>
      <vt:lpstr>Modelo Dimensional</vt:lpstr>
      <vt:lpstr>Modelo Dimensional</vt:lpstr>
      <vt:lpstr>Modelo Dimensional</vt:lpstr>
      <vt:lpstr>Modelo Dimensional do Data Mart (lógico)</vt:lpstr>
      <vt:lpstr>ETAPA 4 - PROJETO FÍSICO DO BD</vt:lpstr>
      <vt:lpstr>Modelo Relacional do Data Mart (físico)</vt:lpstr>
      <vt:lpstr>2. Tabela Dimensão Produto (dim_produto) </vt:lpstr>
      <vt:lpstr>3. Tabela Dimensão Tempo (dim_tempo) </vt:lpstr>
      <vt:lpstr>4. Tabela Fato Vendas (fato_vendas) </vt:lpstr>
      <vt:lpstr>ETAPA 5 - EXTRAÇÃO, TRANSFORMAÇÃO E CARGA</vt:lpstr>
      <vt:lpstr>Plano de Carga da Dimensão Tempo</vt:lpstr>
      <vt:lpstr>Plano de Carga da Dimensão Cliente</vt:lpstr>
      <vt:lpstr>Plano de Carga da Dimensão Produto</vt:lpstr>
      <vt:lpstr>Plano de Carga da Fato</vt:lpstr>
      <vt:lpstr>ETAPA 6 - APLICAÇÃO OLAP e PAINEL DE BORDO</vt:lpstr>
      <vt:lpstr>Consulta OLAP 1</vt:lpstr>
      <vt:lpstr>Consulta OLAP 2</vt:lpstr>
      <vt:lpstr>Consulta OLAP 3</vt:lpstr>
      <vt:lpstr>Painel de Bordo </vt:lpstr>
      <vt:lpstr>Referências</vt:lpstr>
      <vt:lpstr>Anexos</vt:lpstr>
      <vt:lpstr>Apêndices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Brazilian E-Commerce Public Dataset</dc:title>
  <dc:creator>Ytalo</dc:creator>
  <cp:lastModifiedBy>Ytalo</cp:lastModifiedBy>
  <cp:revision>13</cp:revision>
  <dcterms:modified xsi:type="dcterms:W3CDTF">2025-12-02T19:22:42Z</dcterms:modified>
</cp:coreProperties>
</file>